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standing, deck on screen, do not read the title.]</a:t>
            </a:r>
          </a:p>
          <a:p/>
          <a:p>
            <a:r>
              <a:t>Thank you for the time last week. This is what I heard, what I think the problem actually is, and what I would do about it.</a:t>
            </a:r>
          </a:p>
          <a:p/>
          <a:p>
            <a:r>
              <a:t>Three things to say up front. First, nothing in here needs you to replace the ERP. Second, nothing in here needs you to stop operations. Third, I am not proposing to track your drivers.</a:t>
            </a:r>
          </a:p>
          <a:p/>
          <a:p>
            <a:r>
              <a:t>The whole deck takes about twenty minutes. Stop me wherever you disagree — if I have got your morning wrong, the rest of it is wrong too.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I go into the detail, let me play back what I understood about the business — partly so the room has the picture, and partly so you can stop me if I have any of it wrong.</a:t>
            </a:r>
          </a:p>
          <a:p/>
          <a:p>
            <a:r>
              <a:t>One hub, in Coslada, Madrid. Two flows through it — pallet freight coming in from Valencia and Catalonia, and B2C last-mile going out across the Madrid metropolitan area. Own fleet, topped up with freelance drivers when volumes spike.</a:t>
            </a:r>
          </a:p>
          <a:p/>
          <a:p>
            <a:r>
              <a:t>The customers are e-commerce companies, B2B shippers, and businesses on regular parcel or pallet contracts. The e-commerce end is the demanding one: fast delivery, and increasingly, precise information about when the parcel will actually arrive.</a:t>
            </a:r>
          </a:p>
          <a:p/>
          <a:p>
            <a:r>
              <a:t>The pressure is straightforward. Volumes spike at Black Friday and Christmas, margins are tight, and management wants reliability out of the resources already in place — not a bigger fleet and not more people.</a:t>
            </a:r>
          </a:p>
          <a:p/>
          <a:p>
            <a:r>
              <a:t>[Point at the constraints strip.]</a:t>
            </a:r>
          </a:p>
          <a:p/>
          <a:p>
            <a:r>
              <a:t>Three constraints shape everything I am going to propose: an ageing ERP, a fleet that is now mixed diesel and electric under Low Emission Zone rules, and an operation that cannot stop while we work. I come back to all three.</a:t>
            </a:r>
          </a:p>
          <a:p/>
          <a:p>
            <a:r>
              <a:t>Likely question — "why does the fleet mix matter this early?"</a:t>
            </a:r>
          </a:p>
          <a:p>
            <a:r>
              <a:t>Answer: because it changes what a good route looks like. A route a diesel van completes comfortably may not be completable by an electric one, and today the planning does not distinguish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morning as you described it, not as a textbook describes it.</a:t>
            </a:r>
          </a:p>
          <a:p/>
          <a:p>
            <a:r>
              <a:t>Orders arrive in the ERP. The traffic team exports them. The real planning tool is Excel, because the routing system is basic. Addresses get checked by hand. Deliveries get grouped, vans get assigned, the warehouse loads, and then the vans go.</a:t>
            </a:r>
          </a:p>
          <a:p/>
          <a:p>
            <a:r>
              <a:t>The step in amber is the one that matters. You told me there have been days when the plan was still being adjusted while the vans should already have been leaving.</a:t>
            </a:r>
          </a:p>
          <a:p/>
          <a:p>
            <a:r>
              <a:t>[Pause on the quote.]</a:t>
            </a:r>
          </a:p>
          <a:p/>
          <a:p>
            <a:r>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kilometres.</a:t>
            </a:r>
          </a:p>
          <a:p/>
          <a:p>
            <a:r>
              <a:t>Likely question — "isn't this just a busy morning?"</a:t>
            </a:r>
          </a:p>
          <a:p>
            <a:r>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the van is out of the gate, three people hold three different fragments of the truth.</a:t>
            </a:r>
          </a:p>
          <a:p/>
          <a:p>
            <a:r>
              <a:t>Customer service takes the call and can say the parcel is out for delivery. That is all they can say. They cannot give a reliable one- or two-hour window, and you told me they often cannot answer "where is it?" from the screen.</a:t>
            </a:r>
          </a:p>
          <a:p/>
          <a:p>
            <a:r>
              <a:t>The traffic team owns the decision — route changes, absent drivers, vehicle faults — but they are deciding without a complete real-time view.</a:t>
            </a:r>
          </a:p>
          <a:p/>
          <a:p>
            <a:r>
              <a:t>And the answer, in the dark box, is on the driver's phone. You said the fastest option is still to call the driver. Own drivers record on the PDA; freelance drivers do not all follow the same process.</a:t>
            </a:r>
          </a:p>
          <a:p/>
          <a:p>
            <a:r>
              <a:t>[Read the quote.]</a:t>
            </a:r>
          </a:p>
          <a:p/>
          <a:p>
            <a:r>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put your own numbers in the middle column. I am not adding anything to them.</a:t>
            </a:r>
          </a:p>
          <a:p/>
          <a:p>
            <a:r>
              <a:t>Twelve to fourteen per cent failed first attempts in the worst residential zones. Those parcels come back to the hub and get processed again the next day, so every failure is paid for twice.</a:t>
            </a:r>
          </a:p>
          <a:p/>
          <a:p>
            <a:r>
              <a:t>SLA penalties from two important B2C customers. That is the one I would lose sleep over — it means reliability, not price, is what is now at risk commercially.</a:t>
            </a:r>
          </a:p>
          <a:p/>
          <a:p>
            <a:r>
              <a:t>Late departures run into Madrid peak traffic and the overrun compounds across every stop after it.</a:t>
            </a:r>
          </a:p>
          <a:p/>
          <a:p>
            <a:r>
              <a:t>And your traffic team spends its day re-planning and calling drivers, which is capacity that should be going to genuine exceptions.</a:t>
            </a:r>
          </a:p>
          <a:p/>
          <a:p>
            <a:r>
              <a:t>Likely question — "is 12 to 14 per cent unusual?"</a:t>
            </a:r>
          </a:p>
          <a:p>
            <a:r>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came from you at the end, when I asked what I had not asked about. They turned out to be the most useful part of the conversation.</a:t>
            </a:r>
          </a:p>
          <a:p/>
          <a:p>
            <a:r>
              <a:t>An experienced traffic manager left recently, and route logic, awkward addresses and local timing left with them. That knowledge was never in the system, so every new planner rebuilds it from scratch under morning time pressure.</a:t>
            </a:r>
          </a:p>
          <a:p/>
          <a:p>
            <a:r>
              <a:t>Second, Low Emission Zone rules have made the fleet mixed, and the planning process does not treat diesel and electric differently enough. You said real electric range falls short of the paper figure under stop-and-go traffic and high stop counts.</a:t>
            </a:r>
          </a:p>
          <a:p/>
          <a:p>
            <a:r>
              <a:t>[Pause.]</a:t>
            </a:r>
          </a:p>
          <a:p/>
          <a:p>
            <a:r>
              <a:t>Neither of these is a people problem. Both are facts the business relies on daily that exist nowhere it can query. So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take one sentence from this deck, take this one.</a:t>
            </a:r>
          </a:p>
          <a:p/>
          <a:p>
            <a:r>
              <a:t>IberiaNex plans each morning on data it cannot trust, and runs each afternoon on a picture it cannot see.</a:t>
            </a:r>
          </a:p>
          <a:p/>
          <a:p>
            <a:r>
              <a:t>[Let it sit.]</a:t>
            </a:r>
          </a:p>
          <a:p/>
          <a:p>
            <a:r>
              <a:t>Everything I have just shown you — the twelve to fourteen per cent, the penalties, the calls to drivers — is downstream of those two gaps.</a:t>
            </a:r>
          </a:p>
          <a:p/>
          <a:p>
            <a:r>
              <a:t>And I want to say plainly what this is not. It is not a routing-algorithm problem. Your planners know the roads better than any optimiser will. What they lack is clean addresses, an earlier start and a shared view after the gate.</a:t>
            </a:r>
          </a:p>
          <a:p/>
          <a:p>
            <a:r>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changes, and the order matters.</a:t>
            </a:r>
          </a:p>
          <a:p/>
          <a:p>
            <a:r>
              <a:t>One, addresses you can trust and a window you can actually promise.</a:t>
            </a:r>
          </a:p>
          <a:p/>
          <a:p>
            <a:r>
              <a:t>Two, a morning plan that is already built when the planners arrive.</a:t>
            </a:r>
          </a:p>
          <a:p/>
          <a:p>
            <a:r>
              <a:t>Three, one picture of the day that customer service can read.</a:t>
            </a:r>
          </a:p>
          <a:p/>
          <a:p>
            <a:r>
              <a:t>The sequence is not arbitrary. Clean addresses are what make the other two worth having — a route proposal built on bad addresses is a faster way to fail, and a live map of a route that was wrong at seven in the morning does not help anyone.</a:t>
            </a:r>
          </a:p>
          <a:p/>
          <a:p>
            <a:r>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one that attacks the twelve to fourteen per cent directly.</a:t>
            </a:r>
          </a:p>
          <a:p/>
          <a:p>
            <a:r>
              <a:t>What we build: address normalisation and geocoding trained on twenty-four months of your own orders and proof-of-delivery records — your history, not a generic address database. A first-attempt risk score per stop, using what happened at that address, in that building, at that hour. A predicted one- to two-hour window published the evening before and confirmed on the morning. And a review queue for the addresses the model is not sure about, where a person confirms and the fix is kept.</a:t>
            </a:r>
          </a:p>
          <a:p/>
          <a:p>
            <a:r>
              <a:t>What changes on the day is on the right. Customer service answers from the screen. High-risk stops get a message before the van is loaded, not after a failed doorstep. And a bad address gets corrected once instead of failing again next month.</a:t>
            </a:r>
          </a:p>
          <a:p/>
          <a:p>
            <a:r>
              <a:t>[Read the quote.]</a:t>
            </a:r>
          </a:p>
          <a:p/>
          <a:p>
            <a:r>
              <a:t>Likely question — "how accurate would the window be?"</a:t>
            </a:r>
          </a:p>
          <a:p>
            <a:r>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morning I showed you earlier, rearranged.</a:t>
            </a:r>
          </a:p>
          <a:p/>
          <a:p>
            <a:r>
              <a:t>The order file closes overnight. Routes are proposed automatically. The planner reviews only the exceptions rather than building from a blank sheet. Vehicle type and Low Emission Zone rules are applied. And the vans leave on the slot.</a:t>
            </a:r>
          </a:p>
          <a:p/>
          <a:p>
            <a:r>
              <a:t>Three things underneath it.</a:t>
            </a:r>
          </a:p>
          <a:p/>
          <a:p>
            <a:r>
              <a:t>EV-aware means battery range modelled from stop count and stop-and-go conditions, not the datasheet figure — which is the gap you described.</a:t>
            </a:r>
          </a:p>
          <a:p/>
          <a:p>
            <a:r>
              <a:t>Knowledge kept means the access constraints and awkward buildings and reliable timings get mined out of historic routes and out of every correction a planner makes. So tomorrow's departure does not depend on one person's memory.</a:t>
            </a:r>
          </a:p>
          <a:p/>
          <a:p>
            <a:r>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were direct about this, so I will be direct back. You said continuous GPS tracking would be read as surveillance. I agree, and I am not proposing it.</a:t>
            </a:r>
          </a:p>
          <a:p/>
          <a:p>
            <a:r>
              <a:t>What I am proposing is five events: departed hub, arrived at stop, delivered, not delivered with a reason code, route complete. That is it.</a:t>
            </a:r>
          </a:p>
          <a:p/>
          <a:p>
            <a:r>
              <a:t>On the right is why that stays inside GDPR. Location is captured at the stop, not all day. The same five events come from employed and freelance drivers, which is one app screen and one contract clause. No driver scoring, no league table, no automated performance record. And role-based access so each corporate client's data stays inside its own confidentiality boundary.</a:t>
            </a:r>
          </a:p>
          <a:p/>
          <a:p>
            <a:r>
              <a:t>[Read the quote.]</a:t>
            </a:r>
          </a:p>
          <a:p/>
          <a:p>
            <a:r>
              <a:t>Five events is enough for customer service to answer the question. It is not enough to build a surveillance record,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as clear about the boundary as about the work.</a:t>
            </a:r>
          </a:p>
          <a:p/>
          <a:p>
            <a:r>
              <a:t>In scope: address quality and windows, the overnight route proposal your planners own, five standardised events and one intraday view, and read-only integration with exports you already produce.</a:t>
            </a:r>
          </a:p>
          <a:p/>
          <a:p>
            <a:r>
              <a:t>Out of scope, on purpose: no ERP replacement or migration — the old system stays exactly where it is. No continuous tracking, driver scoring or automated disciplinary decisions. No system altering a customer commitment without a named person approving it. No warehouse automation and no change to night consolidation. And no pilot activity during Black Friday or the Christmas peak.</a:t>
            </a:r>
          </a:p>
          <a:p/>
          <a:p>
            <a:r>
              <a:t>You said you cannot stop operations to implement something new. Nothing in this proposal asks you 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your measures, not mine. You listed them when I asked how you would know an improvement had genuinely worked.</a:t>
            </a:r>
          </a:p>
          <a:p/>
          <a:p>
            <a:r>
              <a:t>First-attempt success from eighty-six to eighty-eight per cent up to ninety-three or better. The plan locked forty-five minutes before departure instead of still being adjusted at the slot. Forty per cent less planner time on route building. Kilometres per delivery tracked on a like-for-like order mix. "Where is my parcel" answered at first line. And zero SLA penalty incidents in the pilot zone.</a:t>
            </a:r>
          </a:p>
          <a:p/>
          <a:p>
            <a:r>
              <a:t>The last one on your list was the workload of the traffic team, and that is the third row. You said if they spend less time fixing routes and calling drivers all day, that would be a very good sign. I agree, and I would measure it.</a:t>
            </a:r>
          </a:p>
          <a:p/>
          <a:p>
            <a:r>
              <a:t>Likely question — "why ninety-three and not ninety-five?"</a:t>
            </a:r>
          </a:p>
          <a:p>
            <a:r>
              <a:t>Answer: ninety-three is a stretch I believe I can defend from the data. Ninety-five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Eight weeks, one zone, and nothing stops.</a:t>
            </a:r>
          </a:p>
          <a:p/>
          <a:p>
            <a:r>
              <a:t>Weeks one and two are a baseline, not a build. Read-only access to twenty-four months of orders, addresses and proof of delivery, and we measure the pilot zone exactly as it runs today.</a:t>
            </a:r>
          </a:p>
          <a:p/>
          <a:p>
            <a:r>
              <a:t>Weeks three and four are shadow. The system proposes routes and windows; your planners work exactly as they do now. We compare the two side by side, daily. If the proposals are worse than your planners, you find that out before anything is live.</a:t>
            </a:r>
          </a:p>
          <a:p/>
          <a:p>
            <a:r>
              <a:t>Weeks five to seven go live in one zone, with the planner keeping the override throughout.</a:t>
            </a:r>
          </a:p>
          <a:p/>
          <a:p>
            <a:r>
              <a:t>Week eight is a decision — the measured result, the cost to extend, and an honest recommendation to stop, adjust or scale.</a:t>
            </a:r>
          </a:p>
          <a:p/>
          <a:p>
            <a:r>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ways this fails, and what stops each one.</a:t>
            </a:r>
          </a:p>
          <a:p/>
          <a:p>
            <a:r>
              <a:t>If the address and timestamp history is dirtier than expected — that is what Weeks one and two are for. If the data will not support a window prediction, I will say so and the scope narrows to dispatch. I would rather tell you in week two than in month six.</a:t>
            </a:r>
          </a:p>
          <a:p/>
          <a:p>
            <a:r>
              <a:t>If drivers read this as monitoring — five events, no continuous tracking, no scoring, and drivers see the same screen the office sees. That message has to come from you, not from me.</a:t>
            </a:r>
          </a:p>
          <a:p/>
          <a:p>
            <a:r>
              <a:t>If the legacy ERP will not integrate — we read the scheduled exports your team already produces, and there is no write-back during the pilot.</a:t>
            </a:r>
          </a:p>
          <a:p/>
          <a:p>
            <a:r>
              <a:t>If peak season collides — the eight weeks sit clear of Black Friday and Christmas, and if the start slips it slips to January.</a:t>
            </a:r>
          </a:p>
          <a:p/>
          <a:p>
            <a:r>
              <a:t>And if it works in one zone but nowhere else — that is why the pilot zone is your hardest, not your easiest.</a:t>
            </a:r>
          </a:p>
          <a:p/>
          <a:p>
            <a:r>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decisions, and none of them are technical.</a:t>
            </a:r>
          </a:p>
          <a:p/>
          <a:p>
            <a:r>
              <a:t>Name the pilot zone. I would recommend the residential zone with the worst first-attempt rate.</a:t>
            </a:r>
          </a:p>
          <a:p/>
          <a:p>
            <a:r>
              <a:t>Nominate one traffic planner as the owner — two hours a week for eight weeks. Not a project manager, a planner. Someone who actually builds the routes.</a:t>
            </a:r>
          </a:p>
          <a:p/>
          <a:p>
            <a:r>
              <a:t>And approve read-only access to twenty-four months of orders, addresses and proof of delivery. No production write access at any point.</a:t>
            </a:r>
          </a:p>
          <a:p/>
          <a:p>
            <a:r>
              <a:t>[Pause.]</a:t>
            </a:r>
          </a:p>
          <a:p/>
          <a:p>
            <a:r>
              <a:t>I would like a decision by the end of next week so the eight weeks finish clear of peak season.</a:t>
            </a:r>
          </a:p>
          <a:p/>
          <a:p>
            <a:r>
              <a:t>And if the answer is no: the baseline measurement from weeks one and two is still yours to keep. You would know your real first-attempt rate by zone, which as far as I can tell you do not have today.</a:t>
            </a:r>
          </a:p>
          <a:p/>
          <a:p>
            <a:r>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sp>
      <p:sp>
        <p:nvSpPr>
          <p:cNvPr id="3" name="Shape 1"/>
          <p:cNvSpPr/>
          <p:nvPr/>
        </p:nvSpPr>
        <p:spPr>
          <a:xfrm rot="2700000">
            <a:off x="10451592" y="-457200"/>
            <a:ext cx="914400" cy="914400"/>
          </a:xfrm>
          <a:prstGeom prst="rect">
            <a:avLst/>
          </a:prstGeom>
          <a:solidFill>
            <a:srgbClr val="D9770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indent="0" marL="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indent="0" marL="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sp>
      <p:sp>
        <p:nvSpPr>
          <p:cNvPr id="8" name="Text 6"/>
          <p:cNvSpPr/>
          <p:nvPr/>
        </p:nvSpPr>
        <p:spPr>
          <a:xfrm>
            <a:off x="566928" y="4681728"/>
            <a:ext cx="11055096"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6"/>
                </a:solidFill>
                <a:latin typeface="Calibri" pitchFamily="34" charset="0"/>
                <a:ea typeface="Calibri" pitchFamily="34" charset="-122"/>
                <a:cs typeface="Calibri" pitchFamily="34" charset="-120"/>
              </a:rPr>
              <a:t>What we heard    </a:t>
            </a:r>
            <a:pPr indent="0" marL="0">
              <a:buNone/>
            </a:pPr>
            <a:r>
              <a:rPr lang="en-US" sz="900" dirty="0">
                <a:solidFill>
                  <a:srgbClr val="6B7C86"/>
                </a:solidFill>
                <a:latin typeface="Calibri" pitchFamily="34" charset="0"/>
                <a:ea typeface="Calibri" pitchFamily="34" charset="-122"/>
                <a:cs typeface="Calibri" pitchFamily="34" charset="-120"/>
              </a:rPr>
              <a:t>The problem    </a:t>
            </a:r>
            <a:pPr indent="0" marL="0">
              <a:buNone/>
            </a:pPr>
            <a:r>
              <a:rPr lang="en-US" sz="900" dirty="0">
                <a:solidFill>
                  <a:srgbClr val="6B7C86"/>
                </a:solidFill>
                <a:latin typeface="Calibri" pitchFamily="34" charset="0"/>
                <a:ea typeface="Calibri" pitchFamily="34" charset="-122"/>
                <a:cs typeface="Calibri" pitchFamily="34" charset="-120"/>
              </a:rPr>
              <a:t>Three changes    </a:t>
            </a:r>
            <a:pPr indent="0" marL="0">
              <a:buNone/>
            </a:pPr>
            <a:r>
              <a:rPr lang="en-US" sz="900" dirty="0">
                <a:solidFill>
                  <a:srgbClr val="6B7C86"/>
                </a:solidFill>
                <a:latin typeface="Calibri" pitchFamily="34" charset="0"/>
                <a:ea typeface="Calibri" pitchFamily="34" charset="-122"/>
                <a:cs typeface="Calibri" pitchFamily="34" charset="-120"/>
              </a:rPr>
              <a:t>Eight-week pilot    </a:t>
            </a:r>
            <a:pPr indent="0" marL="0">
              <a:buNone/>
            </a:pPr>
            <a:r>
              <a:rPr lang="en-US" sz="900" dirty="0">
                <a:solidFill>
                  <a:srgbClr val="6B7C86"/>
                </a:solidFill>
                <a:latin typeface="Calibri" pitchFamily="34" charset="0"/>
                <a:ea typeface="Calibri" pitchFamily="34" charset="-122"/>
                <a:cs typeface="Calibri" pitchFamily="34" charset="-120"/>
              </a:rPr>
              <a:t>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operation we are advising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One hub, two flows — and the e-commerce promise is the hardest part of the day.</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Text 9"/>
          <p:cNvSpPr/>
          <p:nvPr/>
        </p:nvSpPr>
        <p:spPr>
          <a:xfrm>
            <a:off x="566928" y="2395728"/>
            <a:ext cx="182880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PALLET FREIGHT IN</a:t>
            </a:r>
            <a:endParaRPr lang="en-US" sz="850" dirty="0"/>
          </a:p>
        </p:txBody>
      </p:sp>
      <p:sp>
        <p:nvSpPr>
          <p:cNvPr id="13" name="Text 10"/>
          <p:cNvSpPr/>
          <p:nvPr/>
        </p:nvSpPr>
        <p:spPr>
          <a:xfrm>
            <a:off x="4754880" y="2395728"/>
            <a:ext cx="219456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LAST MILE OUT</a:t>
            </a:r>
            <a:endParaRPr lang="en-US" sz="850" dirty="0"/>
          </a:p>
        </p:txBody>
      </p:sp>
      <p:sp>
        <p:nvSpPr>
          <p:cNvPr id="14" name="Shape 11"/>
          <p:cNvSpPr/>
          <p:nvPr/>
        </p:nvSpPr>
        <p:spPr>
          <a:xfrm>
            <a:off x="566928" y="2724912"/>
            <a:ext cx="1280160" cy="530352"/>
          </a:xfrm>
          <a:prstGeom prst="roundRect">
            <a:avLst>
              <a:gd name="adj" fmla="val 10345"/>
            </a:avLst>
          </a:prstGeom>
          <a:solidFill>
            <a:srgbClr val="FFFFFF"/>
          </a:solidFill>
          <a:ln w="12700">
            <a:solidFill>
              <a:srgbClr val="D6E2E8"/>
            </a:solidFill>
            <a:prstDash val="solid"/>
          </a:ln>
        </p:spPr>
      </p:sp>
      <p:sp>
        <p:nvSpPr>
          <p:cNvPr id="15" name="Text 12"/>
          <p:cNvSpPr/>
          <p:nvPr/>
        </p:nvSpPr>
        <p:spPr>
          <a:xfrm>
            <a:off x="621792" y="272491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Valencia</a:t>
            </a:r>
            <a:endParaRPr lang="en-US" sz="1200" dirty="0"/>
          </a:p>
        </p:txBody>
      </p:sp>
      <p:sp>
        <p:nvSpPr>
          <p:cNvPr id="16" name="Shape 13"/>
          <p:cNvSpPr/>
          <p:nvPr/>
        </p:nvSpPr>
        <p:spPr>
          <a:xfrm>
            <a:off x="566928" y="3456432"/>
            <a:ext cx="1280160" cy="530352"/>
          </a:xfrm>
          <a:prstGeom prst="roundRect">
            <a:avLst>
              <a:gd name="adj" fmla="val 10345"/>
            </a:avLst>
          </a:prstGeom>
          <a:solidFill>
            <a:srgbClr val="FFFFFF"/>
          </a:solidFill>
          <a:ln w="12700">
            <a:solidFill>
              <a:srgbClr val="D6E2E8"/>
            </a:solidFill>
            <a:prstDash val="solid"/>
          </a:ln>
        </p:spPr>
      </p:sp>
      <p:sp>
        <p:nvSpPr>
          <p:cNvPr id="17" name="Text 14"/>
          <p:cNvSpPr/>
          <p:nvPr/>
        </p:nvSpPr>
        <p:spPr>
          <a:xfrm>
            <a:off x="621792" y="345643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Catalonia</a:t>
            </a:r>
            <a:endParaRPr lang="en-US" sz="1200" dirty="0"/>
          </a:p>
        </p:txBody>
      </p:sp>
      <p:sp>
        <p:nvSpPr>
          <p:cNvPr id="18" name="Shape 15"/>
          <p:cNvSpPr/>
          <p:nvPr/>
        </p:nvSpPr>
        <p:spPr>
          <a:xfrm>
            <a:off x="1920240" y="2862072"/>
            <a:ext cx="384048" cy="274320"/>
          </a:xfrm>
          <a:prstGeom prst="rightArrow">
            <a:avLst/>
          </a:prstGeom>
          <a:solidFill>
            <a:srgbClr val="CFE0E7"/>
          </a:solidFill>
          <a:ln/>
        </p:spPr>
      </p:sp>
      <p:sp>
        <p:nvSpPr>
          <p:cNvPr id="19" name="Shape 16"/>
          <p:cNvSpPr/>
          <p:nvPr/>
        </p:nvSpPr>
        <p:spPr>
          <a:xfrm>
            <a:off x="1920240" y="3593592"/>
            <a:ext cx="384048" cy="274320"/>
          </a:xfrm>
          <a:prstGeom prst="rightArrow">
            <a:avLst/>
          </a:prstGeom>
          <a:solidFill>
            <a:srgbClr val="CFE0E7"/>
          </a:solidFill>
          <a:ln/>
        </p:spPr>
      </p:sp>
      <p:sp>
        <p:nvSpPr>
          <p:cNvPr id="20" name="Shape 17"/>
          <p:cNvSpPr/>
          <p:nvPr/>
        </p:nvSpPr>
        <p:spPr>
          <a:xfrm>
            <a:off x="2395728" y="2670048"/>
            <a:ext cx="1828800" cy="1371600"/>
          </a:xfrm>
          <a:prstGeom prst="roundRect">
            <a:avLst>
              <a:gd name="adj" fmla="val 4000"/>
            </a:avLst>
          </a:prstGeom>
          <a:solidFill>
            <a:srgbClr val="17384A"/>
          </a:solidFill>
          <a:ln w="12700">
            <a:solidFill>
              <a:srgbClr val="17384A"/>
            </a:solidFill>
            <a:prstDash val="solid"/>
          </a:ln>
        </p:spPr>
      </p:sp>
      <p:sp>
        <p:nvSpPr>
          <p:cNvPr id="21" name="Text 18"/>
          <p:cNvSpPr/>
          <p:nvPr/>
        </p:nvSpPr>
        <p:spPr>
          <a:xfrm>
            <a:off x="2450592" y="2670048"/>
            <a:ext cx="1719072" cy="13716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COSLADA HUB</a:t>
            </a:r>
            <a:endParaRPr lang="en-US" sz="1200" dirty="0"/>
          </a:p>
          <a:p>
            <a:pPr algn="ctr" indent="0" marL="0">
              <a:buNone/>
            </a:pPr>
            <a:r>
              <a:rPr lang="en-US" sz="900" dirty="0">
                <a:solidFill>
                  <a:srgbClr val="CFE0E7"/>
                </a:solidFill>
                <a:latin typeface="Calibri" pitchFamily="34" charset="0"/>
                <a:ea typeface="Calibri" pitchFamily="34" charset="-122"/>
                <a:cs typeface="Calibri" pitchFamily="34" charset="-120"/>
              </a:rPr>
              <a:t>Madrid</a:t>
            </a:r>
            <a:endParaRPr lang="en-US" sz="1200" dirty="0"/>
          </a:p>
        </p:txBody>
      </p:sp>
      <p:sp>
        <p:nvSpPr>
          <p:cNvPr id="22" name="Shape 19"/>
          <p:cNvSpPr/>
          <p:nvPr/>
        </p:nvSpPr>
        <p:spPr>
          <a:xfrm>
            <a:off x="4297680" y="3218688"/>
            <a:ext cx="384048" cy="274320"/>
          </a:xfrm>
          <a:prstGeom prst="rightArrow">
            <a:avLst/>
          </a:prstGeom>
          <a:solidFill>
            <a:srgbClr val="CFE0E7"/>
          </a:solidFill>
          <a:ln/>
        </p:spPr>
      </p:sp>
      <p:sp>
        <p:nvSpPr>
          <p:cNvPr id="23" name="Shape 20"/>
          <p:cNvSpPr/>
          <p:nvPr/>
        </p:nvSpPr>
        <p:spPr>
          <a:xfrm>
            <a:off x="4754880" y="2852928"/>
            <a:ext cx="2194560" cy="1005840"/>
          </a:xfrm>
          <a:prstGeom prst="roundRect">
            <a:avLst>
              <a:gd name="adj" fmla="val 5455"/>
            </a:avLst>
          </a:prstGeom>
          <a:solidFill>
            <a:srgbClr val="D97706"/>
          </a:solidFill>
          <a:ln w="12700">
            <a:solidFill>
              <a:srgbClr val="D97706"/>
            </a:solidFill>
            <a:prstDash val="solid"/>
          </a:ln>
        </p:spPr>
      </p:sp>
      <p:sp>
        <p:nvSpPr>
          <p:cNvPr id="24" name="Text 21"/>
          <p:cNvSpPr/>
          <p:nvPr/>
        </p:nvSpPr>
        <p:spPr>
          <a:xfrm>
            <a:off x="4809744" y="2852928"/>
            <a:ext cx="2084832" cy="1005840"/>
          </a:xfrm>
          <a:prstGeom prst="rect">
            <a:avLst/>
          </a:prstGeom>
          <a:noFill/>
          <a:ln/>
        </p:spPr>
        <p:txBody>
          <a:bodyPr wrap="square" lIns="0" tIns="0" rIns="0" bIns="0" rtlCol="0" anchor="ctr"/>
          <a:lstStyle/>
          <a:p>
            <a:pPr algn="ctr" indent="0" marL="0">
              <a:buNone/>
            </a:pPr>
            <a:r>
              <a:rPr lang="en-US" sz="1200" b="1" dirty="0">
                <a:solidFill>
                  <a:srgbClr val="0F1F2B"/>
                </a:solidFill>
                <a:latin typeface="Calibri" pitchFamily="34" charset="0"/>
                <a:ea typeface="Calibri" pitchFamily="34" charset="-122"/>
                <a:cs typeface="Calibri" pitchFamily="34" charset="-120"/>
              </a:rPr>
              <a:t>Madrid metro</a:t>
            </a:r>
            <a:endParaRPr lang="en-US" sz="1200" dirty="0"/>
          </a:p>
          <a:p>
            <a:pPr algn="ctr" indent="0" marL="0">
              <a:buNone/>
            </a:pPr>
            <a:r>
              <a:rPr lang="en-US" sz="900" dirty="0">
                <a:solidFill>
                  <a:srgbClr val="7A3D00"/>
                </a:solidFill>
                <a:latin typeface="Calibri" pitchFamily="34" charset="0"/>
                <a:ea typeface="Calibri" pitchFamily="34" charset="-122"/>
                <a:cs typeface="Calibri" pitchFamily="34" charset="-120"/>
              </a:rPr>
              <a:t>B2C last-mile delivery</a:t>
            </a:r>
            <a:endParaRPr lang="en-US" sz="1200" dirty="0"/>
          </a:p>
        </p:txBody>
      </p:sp>
      <p:sp>
        <p:nvSpPr>
          <p:cNvPr id="25" name="Text 22"/>
          <p:cNvSpPr/>
          <p:nvPr/>
        </p:nvSpPr>
        <p:spPr>
          <a:xfrm>
            <a:off x="566928" y="4151376"/>
            <a:ext cx="6400800" cy="256032"/>
          </a:xfrm>
          <a:prstGeom prst="rect">
            <a:avLst/>
          </a:prstGeom>
          <a:noFill/>
          <a:ln/>
        </p:spPr>
        <p:txBody>
          <a:bodyPr wrap="square" lIns="0" tIns="0" rIns="0" bIns="0" rtlCol="0" anchor="ctr"/>
          <a:lstStyle/>
          <a:p>
            <a:pPr algn="ctr" indent="0" marL="0">
              <a:buNone/>
            </a:pPr>
            <a:r>
              <a:rPr lang="en-US" sz="1000" i="1" dirty="0">
                <a:solidFill>
                  <a:srgbClr val="6B7C86"/>
                </a:solidFill>
                <a:latin typeface="Calibri" pitchFamily="34" charset="0"/>
                <a:ea typeface="Calibri" pitchFamily="34" charset="-122"/>
                <a:cs typeface="Calibri" pitchFamily="34" charset="-120"/>
              </a:rPr>
              <a:t>Own fleet, plus freelance drivers at peak</a:t>
            </a:r>
            <a:endParaRPr lang="en-US" sz="1000" dirty="0"/>
          </a:p>
        </p:txBody>
      </p:sp>
      <p:sp>
        <p:nvSpPr>
          <p:cNvPr id="26" name="Shape 23"/>
          <p:cNvSpPr/>
          <p:nvPr/>
        </p:nvSpPr>
        <p:spPr>
          <a:xfrm>
            <a:off x="7269480" y="2395728"/>
            <a:ext cx="4352544" cy="201168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7470648" y="2542032"/>
            <a:ext cx="3941064"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Who they serve, and the squeeze</a:t>
            </a:r>
            <a:endParaRPr lang="en-US" sz="1100" dirty="0"/>
          </a:p>
        </p:txBody>
      </p:sp>
      <p:sp>
        <p:nvSpPr>
          <p:cNvPr id="28" name="Text 25"/>
          <p:cNvSpPr/>
          <p:nvPr/>
        </p:nvSpPr>
        <p:spPr>
          <a:xfrm>
            <a:off x="7470648" y="2907792"/>
            <a:ext cx="3941064" cy="13716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B2B shippers and regular pallet contracts.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sets the bar: fast delivery, and precise arrival information.</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Volumes spike hard at Black Friday and Christmas.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Margins are tight — more reliability from the same vans and people.</a:t>
            </a:r>
            <a:endParaRPr lang="en-US" sz="1050" dirty="0"/>
          </a:p>
        </p:txBody>
      </p:sp>
      <p:sp>
        <p:nvSpPr>
          <p:cNvPr id="29" name="Shape 26"/>
          <p:cNvSpPr/>
          <p:nvPr/>
        </p:nvSpPr>
        <p:spPr>
          <a:xfrm>
            <a:off x="566928" y="5065776"/>
            <a:ext cx="11055096" cy="786384"/>
          </a:xfrm>
          <a:prstGeom prst="rect">
            <a:avLst/>
          </a:prstGeom>
          <a:solidFill>
            <a:srgbClr val="EAF2F5"/>
          </a:solidFill>
          <a:ln/>
        </p:spPr>
      </p:sp>
      <p:sp>
        <p:nvSpPr>
          <p:cNvPr id="30" name="Shape 27"/>
          <p:cNvSpPr/>
          <p:nvPr/>
        </p:nvSpPr>
        <p:spPr>
          <a:xfrm>
            <a:off x="566928" y="5065776"/>
            <a:ext cx="82296" cy="786384"/>
          </a:xfrm>
          <a:prstGeom prst="rect">
            <a:avLst/>
          </a:prstGeom>
          <a:solidFill>
            <a:srgbClr val="D97706"/>
          </a:solidFill>
          <a:ln/>
        </p:spPr>
      </p:sp>
      <p:sp>
        <p:nvSpPr>
          <p:cNvPr id="31" name="Text 28"/>
          <p:cNvSpPr/>
          <p:nvPr/>
        </p:nvSpPr>
        <p:spPr>
          <a:xfrm>
            <a:off x="822960" y="50657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THREE CONSTRAINTS   </a:t>
            </a:r>
            <a:pPr indent="0" marL="0">
              <a:buNone/>
            </a:pPr>
            <a:r>
              <a:rPr lang="en-US" sz="1200" dirty="0">
                <a:solidFill>
                  <a:srgbClr val="16232B"/>
                </a:solidFill>
                <a:latin typeface="Calibri" pitchFamily="34" charset="0"/>
                <a:ea typeface="Calibri" pitchFamily="34" charset="-122"/>
                <a:cs typeface="Calibri" pitchFamily="34" charset="-120"/>
              </a:rPr>
              <a:t>Everything that follows is shaped by an ageing ERP, a mixed diesel-and-electric fleet under Low Emission Zone rules, and an operation that cannot stop while we work.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1751076" cy="749808"/>
          </a:xfrm>
          <a:prstGeom prst="rightArrow">
            <a:avLst/>
          </a:prstGeom>
          <a:solidFill>
            <a:srgbClr val="17384A"/>
          </a:solidFill>
          <a:ln/>
        </p:spPr>
      </p:sp>
      <p:sp>
        <p:nvSpPr>
          <p:cNvPr id="13" name="Text 10"/>
          <p:cNvSpPr/>
          <p:nvPr/>
        </p:nvSpPr>
        <p:spPr>
          <a:xfrm>
            <a:off x="612648"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sp>
      <p:sp>
        <p:nvSpPr>
          <p:cNvPr id="15" name="Text 12"/>
          <p:cNvSpPr/>
          <p:nvPr/>
        </p:nvSpPr>
        <p:spPr>
          <a:xfrm>
            <a:off x="2473452"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sp>
      <p:sp>
        <p:nvSpPr>
          <p:cNvPr id="17" name="Text 14"/>
          <p:cNvSpPr/>
          <p:nvPr/>
        </p:nvSpPr>
        <p:spPr>
          <a:xfrm>
            <a:off x="4334256"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sp>
      <p:sp>
        <p:nvSpPr>
          <p:cNvPr id="19" name="Text 16"/>
          <p:cNvSpPr/>
          <p:nvPr/>
        </p:nvSpPr>
        <p:spPr>
          <a:xfrm>
            <a:off x="6195060"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sp>
      <p:sp>
        <p:nvSpPr>
          <p:cNvPr id="21" name="Text 18"/>
          <p:cNvSpPr/>
          <p:nvPr/>
        </p:nvSpPr>
        <p:spPr>
          <a:xfrm>
            <a:off x="8055864"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sp>
      <p:sp>
        <p:nvSpPr>
          <p:cNvPr id="23" name="Text 20"/>
          <p:cNvSpPr/>
          <p:nvPr/>
        </p:nvSpPr>
        <p:spPr>
          <a:xfrm>
            <a:off x="9916668" y="2395728"/>
            <a:ext cx="1641348"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sp>
      <p:sp>
        <p:nvSpPr>
          <p:cNvPr id="25" name="Shape 22"/>
          <p:cNvSpPr/>
          <p:nvPr/>
        </p:nvSpPr>
        <p:spPr>
          <a:xfrm>
            <a:off x="566928" y="3529584"/>
            <a:ext cx="82296" cy="786384"/>
          </a:xfrm>
          <a:prstGeom prst="rect">
            <a:avLst/>
          </a:prstGeom>
          <a:solidFill>
            <a:srgbClr val="D97706"/>
          </a:solidFill>
          <a:ln/>
        </p:spPr>
      </p:sp>
      <p:sp>
        <p:nvSpPr>
          <p:cNvPr id="26" name="Text 23"/>
          <p:cNvSpPr/>
          <p:nvPr/>
        </p:nvSpPr>
        <p:spPr>
          <a:xfrm>
            <a:off x="822960" y="3529584"/>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8" name="Text 25"/>
          <p:cNvSpPr/>
          <p:nvPr/>
        </p:nvSpPr>
        <p:spPr>
          <a:xfrm>
            <a:off x="786384" y="4864608"/>
            <a:ext cx="10597896"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sp>
      <p:sp>
        <p:nvSpPr>
          <p:cNvPr id="25" name="Shape 22"/>
          <p:cNvSpPr/>
          <p:nvPr/>
        </p:nvSpPr>
        <p:spPr>
          <a:xfrm>
            <a:off x="566928" y="5294376"/>
            <a:ext cx="82296" cy="786384"/>
          </a:xfrm>
          <a:prstGeom prst="rect">
            <a:avLst/>
          </a:prstGeom>
          <a:solidFill>
            <a:srgbClr val="D97706"/>
          </a:solidFill>
          <a:ln/>
        </p:spPr>
      </p:sp>
      <p:sp>
        <p:nvSpPr>
          <p:cNvPr id="26" name="Text 23"/>
          <p:cNvSpPr/>
          <p:nvPr/>
        </p:nvSpPr>
        <p:spPr>
          <a:xfrm>
            <a:off x="822960" y="52943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2331720"/>
                <a:gridCol w="3794760"/>
                <a:gridCol w="4928616"/>
              </a:tblGrid>
              <a:tr h="329184">
                <a:tc>
                  <a:txBody>
                    <a:bodyPr/>
                    <a:lstStyle/>
                    <a:p>
                      <a:pPr indent="0" marL="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r>
              <a:tr h="658368">
                <a:tc>
                  <a:txBody>
                    <a:bodyPr/>
                    <a:lstStyle/>
                    <a:p>
                      <a:pPr indent="0" marL="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sp>
      <p:sp>
        <p:nvSpPr>
          <p:cNvPr id="21" name="Shape 18"/>
          <p:cNvSpPr/>
          <p:nvPr/>
        </p:nvSpPr>
        <p:spPr>
          <a:xfrm>
            <a:off x="566928" y="5111496"/>
            <a:ext cx="82296" cy="786384"/>
          </a:xfrm>
          <a:prstGeom prst="rect">
            <a:avLst/>
          </a:prstGeom>
          <a:solidFill>
            <a:srgbClr val="D97706"/>
          </a:solidFill>
          <a:ln/>
        </p:spPr>
      </p:sp>
      <p:sp>
        <p:nvSpPr>
          <p:cNvPr id="22" name="Text 19"/>
          <p:cNvSpPr/>
          <p:nvPr/>
        </p:nvSpPr>
        <p:spPr>
          <a:xfrm>
            <a:off x="822960" y="511149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WHY IT MATTERS   </a:t>
            </a:r>
            <a:pPr indent="0" marL="0">
              <a:buNone/>
            </a:pP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indent="0" marL="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sp>
      <p:sp>
        <p:nvSpPr>
          <p:cNvPr id="8" name="Shape 5"/>
          <p:cNvSpPr/>
          <p:nvPr/>
        </p:nvSpPr>
        <p:spPr>
          <a:xfrm>
            <a:off x="566928" y="3246120"/>
            <a:ext cx="82296" cy="713232"/>
          </a:xfrm>
          <a:prstGeom prst="rect">
            <a:avLst/>
          </a:prstGeom>
          <a:solidFill>
            <a:srgbClr val="D97706"/>
          </a:solidFill>
          <a:ln/>
        </p:spPr>
      </p:sp>
      <p:sp>
        <p:nvSpPr>
          <p:cNvPr id="9" name="Text 6"/>
          <p:cNvSpPr/>
          <p:nvPr/>
        </p:nvSpPr>
        <p:spPr>
          <a:xfrm>
            <a:off x="822960" y="3246120"/>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The symptoms follow from the two gaps.   </a:t>
            </a:r>
            <a:pPr indent="0" marL="0">
              <a:buNone/>
            </a:pP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sp>
      <p:sp>
        <p:nvSpPr>
          <p:cNvPr id="11" name="Shape 8"/>
          <p:cNvSpPr/>
          <p:nvPr/>
        </p:nvSpPr>
        <p:spPr>
          <a:xfrm>
            <a:off x="566928" y="4123944"/>
            <a:ext cx="82296" cy="713232"/>
          </a:xfrm>
          <a:prstGeom prst="rect">
            <a:avLst/>
          </a:prstGeom>
          <a:solidFill>
            <a:srgbClr val="D97706"/>
          </a:solidFill>
          <a:ln/>
        </p:spPr>
      </p:sp>
      <p:sp>
        <p:nvSpPr>
          <p:cNvPr id="12" name="Text 9"/>
          <p:cNvSpPr/>
          <p:nvPr/>
        </p:nvSpPr>
        <p:spPr>
          <a:xfrm>
            <a:off x="822960" y="4123944"/>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This is not a routing-algorithm problem.   </a:t>
            </a:r>
            <a:pPr indent="0" marL="0">
              <a:buNone/>
            </a:pP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86384"/>
          </a:xfrm>
          <a:prstGeom prst="rect">
            <a:avLst/>
          </a:prstGeom>
          <a:solidFill>
            <a:srgbClr val="EAF2F5"/>
          </a:solidFill>
          <a:ln/>
        </p:spPr>
      </p:sp>
      <p:sp>
        <p:nvSpPr>
          <p:cNvPr id="14" name="Shape 11"/>
          <p:cNvSpPr/>
          <p:nvPr/>
        </p:nvSpPr>
        <p:spPr>
          <a:xfrm>
            <a:off x="566928" y="5001768"/>
            <a:ext cx="82296" cy="786384"/>
          </a:xfrm>
          <a:prstGeom prst="rect">
            <a:avLst/>
          </a:prstGeom>
          <a:solidFill>
            <a:srgbClr val="D97706"/>
          </a:solidFill>
          <a:ln/>
        </p:spPr>
      </p:sp>
      <p:sp>
        <p:nvSpPr>
          <p:cNvPr id="15" name="Text 12"/>
          <p:cNvSpPr/>
          <p:nvPr/>
        </p:nvSpPr>
        <p:spPr>
          <a:xfrm>
            <a:off x="822960" y="500176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50" i="1" dirty="0">
                <a:solidFill>
                  <a:srgbClr val="16232B"/>
                </a:solidFill>
                <a:latin typeface="Calibri" pitchFamily="34" charset="0"/>
                <a:ea typeface="Calibri" pitchFamily="34" charset="-122"/>
                <a:cs typeface="Calibri" pitchFamily="34" charset="-120"/>
              </a:rPr>
              <a:t>“The main priority is to make deliveries more reliable without simply adding more vehicles or more people every time volumes grow.”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3502152" cy="822960"/>
          </a:xfrm>
          <a:prstGeom prst="rect">
            <a:avLst/>
          </a:prstGeom>
          <a:solidFill>
            <a:srgbClr val="17384A"/>
          </a:solidFill>
          <a:ln/>
        </p:spPr>
      </p:sp>
      <p:sp>
        <p:nvSpPr>
          <p:cNvPr id="14" name="Text 11"/>
          <p:cNvSpPr/>
          <p:nvPr/>
        </p:nvSpPr>
        <p:spPr>
          <a:xfrm>
            <a:off x="768096"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8" name="Shape 15"/>
          <p:cNvSpPr/>
          <p:nvPr/>
        </p:nvSpPr>
        <p:spPr>
          <a:xfrm>
            <a:off x="4343400" y="2395728"/>
            <a:ext cx="3502152" cy="822960"/>
          </a:xfrm>
          <a:prstGeom prst="rect">
            <a:avLst/>
          </a:prstGeom>
          <a:solidFill>
            <a:srgbClr val="17384A"/>
          </a:solidFill>
          <a:ln/>
        </p:spPr>
      </p:sp>
      <p:sp>
        <p:nvSpPr>
          <p:cNvPr id="19" name="Text 16"/>
          <p:cNvSpPr/>
          <p:nvPr/>
        </p:nvSpPr>
        <p:spPr>
          <a:xfrm>
            <a:off x="4544568"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Shape 20"/>
          <p:cNvSpPr/>
          <p:nvPr/>
        </p:nvSpPr>
        <p:spPr>
          <a:xfrm>
            <a:off x="8119872" y="2395728"/>
            <a:ext cx="3502152" cy="822960"/>
          </a:xfrm>
          <a:prstGeom prst="rect">
            <a:avLst/>
          </a:prstGeom>
          <a:solidFill>
            <a:srgbClr val="17384A"/>
          </a:solidFill>
          <a:ln/>
        </p:spPr>
      </p:sp>
      <p:sp>
        <p:nvSpPr>
          <p:cNvPr id="24" name="Text 21"/>
          <p:cNvSpPr/>
          <p:nvPr/>
        </p:nvSpPr>
        <p:spPr>
          <a:xfrm>
            <a:off x="8321040"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sp>
      <p:sp>
        <p:nvSpPr>
          <p:cNvPr id="28" name="Shape 25"/>
          <p:cNvSpPr/>
          <p:nvPr/>
        </p:nvSpPr>
        <p:spPr>
          <a:xfrm>
            <a:off x="566928" y="5513832"/>
            <a:ext cx="82296" cy="676656"/>
          </a:xfrm>
          <a:prstGeom prst="rect">
            <a:avLst/>
          </a:prstGeom>
          <a:solidFill>
            <a:srgbClr val="D97706"/>
          </a:solidFill>
          <a:ln/>
        </p:spPr>
      </p:sp>
      <p:sp>
        <p:nvSpPr>
          <p:cNvPr id="29" name="Text 26"/>
          <p:cNvSpPr/>
          <p:nvPr/>
        </p:nvSpPr>
        <p:spPr>
          <a:xfrm>
            <a:off x="822960" y="551383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SEQUENCE   </a:t>
            </a:r>
            <a:pPr indent="0" marL="0">
              <a:buNone/>
            </a:pP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86384"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16" name="Text 13"/>
          <p:cNvSpPr/>
          <p:nvPr/>
        </p:nvSpPr>
        <p:spPr>
          <a:xfrm>
            <a:off x="6451092"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sp>
      <p:sp>
        <p:nvSpPr>
          <p:cNvPr id="19" name="Shape 16"/>
          <p:cNvSpPr/>
          <p:nvPr/>
        </p:nvSpPr>
        <p:spPr>
          <a:xfrm>
            <a:off x="566928" y="5193792"/>
            <a:ext cx="82296" cy="676656"/>
          </a:xfrm>
          <a:prstGeom prst="rect">
            <a:avLst/>
          </a:prstGeom>
          <a:solidFill>
            <a:srgbClr val="D97706"/>
          </a:solidFill>
          <a:ln/>
        </p:spPr>
      </p:sp>
      <p:sp>
        <p:nvSpPr>
          <p:cNvPr id="20" name="Text 17"/>
          <p:cNvSpPr/>
          <p:nvPr/>
        </p:nvSpPr>
        <p:spPr>
          <a:xfrm>
            <a:off x="822960" y="519379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2123237" cy="749808"/>
          </a:xfrm>
          <a:prstGeom prst="rightArrow">
            <a:avLst/>
          </a:prstGeom>
          <a:solidFill>
            <a:srgbClr val="17384A"/>
          </a:solidFill>
          <a:ln/>
        </p:spPr>
      </p:sp>
      <p:sp>
        <p:nvSpPr>
          <p:cNvPr id="13" name="Text 10"/>
          <p:cNvSpPr/>
          <p:nvPr/>
        </p:nvSpPr>
        <p:spPr>
          <a:xfrm>
            <a:off x="61264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sp>
      <p:sp>
        <p:nvSpPr>
          <p:cNvPr id="15" name="Text 12"/>
          <p:cNvSpPr/>
          <p:nvPr/>
        </p:nvSpPr>
        <p:spPr>
          <a:xfrm>
            <a:off x="2845613"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sp>
      <p:sp>
        <p:nvSpPr>
          <p:cNvPr id="17" name="Text 14"/>
          <p:cNvSpPr/>
          <p:nvPr/>
        </p:nvSpPr>
        <p:spPr>
          <a:xfrm>
            <a:off x="507857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sp>
      <p:sp>
        <p:nvSpPr>
          <p:cNvPr id="19" name="Text 16"/>
          <p:cNvSpPr/>
          <p:nvPr/>
        </p:nvSpPr>
        <p:spPr>
          <a:xfrm>
            <a:off x="7311542"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sp>
      <p:sp>
        <p:nvSpPr>
          <p:cNvPr id="21" name="Text 18"/>
          <p:cNvSpPr/>
          <p:nvPr/>
        </p:nvSpPr>
        <p:spPr>
          <a:xfrm>
            <a:off x="9544507" y="2395728"/>
            <a:ext cx="2013509"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768096"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4544568"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31" name="Text 28"/>
          <p:cNvSpPr/>
          <p:nvPr/>
        </p:nvSpPr>
        <p:spPr>
          <a:xfrm>
            <a:off x="8321040" y="3694176"/>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527548" cy="329184"/>
          </a:xfrm>
          <a:prstGeom prst="rect">
            <a:avLst/>
          </a:prstGeom>
          <a:solidFill>
            <a:srgbClr val="17384A"/>
          </a:solidFill>
          <a:ln/>
        </p:spPr>
      </p:sp>
      <p:sp>
        <p:nvSpPr>
          <p:cNvPr id="13" name="Text 10"/>
          <p:cNvSpPr/>
          <p:nvPr/>
        </p:nvSpPr>
        <p:spPr>
          <a:xfrm>
            <a:off x="713232" y="2395728"/>
            <a:ext cx="525322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sp>
      <p:sp>
        <p:nvSpPr>
          <p:cNvPr id="15" name="Text 12"/>
          <p:cNvSpPr/>
          <p:nvPr/>
        </p:nvSpPr>
        <p:spPr>
          <a:xfrm>
            <a:off x="822960" y="2793492"/>
            <a:ext cx="514350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sp>
      <p:sp>
        <p:nvSpPr>
          <p:cNvPr id="17" name="Text 14"/>
          <p:cNvSpPr/>
          <p:nvPr/>
        </p:nvSpPr>
        <p:spPr>
          <a:xfrm>
            <a:off x="932688" y="3191256"/>
            <a:ext cx="503377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sp>
      <p:sp>
        <p:nvSpPr>
          <p:cNvPr id="19" name="Text 16"/>
          <p:cNvSpPr/>
          <p:nvPr/>
        </p:nvSpPr>
        <p:spPr>
          <a:xfrm>
            <a:off x="1042416" y="3589020"/>
            <a:ext cx="492404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sp>
      <p:sp>
        <p:nvSpPr>
          <p:cNvPr id="21" name="Text 18"/>
          <p:cNvSpPr/>
          <p:nvPr/>
        </p:nvSpPr>
        <p:spPr>
          <a:xfrm>
            <a:off x="1152144" y="3986784"/>
            <a:ext cx="481431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6624828" y="2542032"/>
            <a:ext cx="4759452"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sp>
      <p:sp>
        <p:nvSpPr>
          <p:cNvPr id="26" name="Shape 23"/>
          <p:cNvSpPr/>
          <p:nvPr/>
        </p:nvSpPr>
        <p:spPr>
          <a:xfrm>
            <a:off x="566928" y="5102352"/>
            <a:ext cx="82296" cy="676656"/>
          </a:xfrm>
          <a:prstGeom prst="rect">
            <a:avLst/>
          </a:prstGeom>
          <a:solidFill>
            <a:srgbClr val="D97706"/>
          </a:solidFill>
          <a:ln/>
        </p:spPr>
      </p:sp>
      <p:sp>
        <p:nvSpPr>
          <p:cNvPr id="27" name="Text 24"/>
          <p:cNvSpPr/>
          <p:nvPr/>
        </p:nvSpPr>
        <p:spPr>
          <a:xfrm>
            <a:off x="822960" y="510235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sp>
      <p:sp>
        <p:nvSpPr>
          <p:cNvPr id="21" name="Shape 18"/>
          <p:cNvSpPr/>
          <p:nvPr/>
        </p:nvSpPr>
        <p:spPr>
          <a:xfrm>
            <a:off x="566928" y="5413248"/>
            <a:ext cx="82296" cy="676656"/>
          </a:xfrm>
          <a:prstGeom prst="rect">
            <a:avLst/>
          </a:prstGeom>
          <a:solidFill>
            <a:srgbClr val="D97706"/>
          </a:solidFill>
          <a:ln/>
        </p:spPr>
      </p:sp>
      <p:sp>
        <p:nvSpPr>
          <p:cNvPr id="22" name="Text 19"/>
          <p:cNvSpPr/>
          <p:nvPr/>
        </p:nvSpPr>
        <p:spPr>
          <a:xfrm>
            <a:off x="822960" y="54132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YOUR CONSTRAINT, HONOURED   </a:t>
            </a:r>
            <a:pPr indent="0" marL="0">
              <a:buNone/>
            </a:pP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5253228"/>
                <a:gridCol w="548640"/>
                <a:gridCol w="5253228"/>
              </a:tblGrid>
              <a:tr h="365760">
                <a:tc>
                  <a:txBody>
                    <a:bodyPr/>
                    <a:lstStyle/>
                    <a:p>
                      <a:pPr indent="0" marL="0">
                        <a:buNone/>
                      </a:pPr>
                      <a:r>
                        <a:rPr lang="en-US" sz="1150" b="1" spc="100" kern="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50" b="1" spc="100" kern="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457200">
                <a:tc>
                  <a:txBody>
                    <a:bodyPr/>
                    <a:lstStyle/>
                    <a:p>
                      <a:pPr indent="0" marL="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sp>
      <p:sp>
        <p:nvSpPr>
          <p:cNvPr id="14" name="Text 11"/>
          <p:cNvSpPr/>
          <p:nvPr/>
        </p:nvSpPr>
        <p:spPr>
          <a:xfrm>
            <a:off x="1496187" y="2395728"/>
            <a:ext cx="768096" cy="768096"/>
          </a:xfrm>
          <a:prstGeom prst="rect">
            <a:avLst/>
          </a:prstGeom>
          <a:noFill/>
          <a:ln/>
        </p:spPr>
        <p:txBody>
          <a:bodyPr wrap="square" lIns="0" tIns="0" rIns="0" bIns="0" rtlCol="0" anchor="ctr"/>
          <a:lstStyle/>
          <a:p>
            <a:pPr algn="ctr" indent="0" marL="0">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sp>
      <p:sp>
        <p:nvSpPr>
          <p:cNvPr id="19" name="Text 16"/>
          <p:cNvSpPr/>
          <p:nvPr/>
        </p:nvSpPr>
        <p:spPr>
          <a:xfrm>
            <a:off x="4305681"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3467862"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sp>
      <p:sp>
        <p:nvSpPr>
          <p:cNvPr id="24" name="Text 21"/>
          <p:cNvSpPr/>
          <p:nvPr/>
        </p:nvSpPr>
        <p:spPr>
          <a:xfrm>
            <a:off x="7115175"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6277356"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sp>
      <p:sp>
        <p:nvSpPr>
          <p:cNvPr id="29" name="Text 26"/>
          <p:cNvSpPr/>
          <p:nvPr/>
        </p:nvSpPr>
        <p:spPr>
          <a:xfrm>
            <a:off x="9924669"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31" name="Text 28"/>
          <p:cNvSpPr/>
          <p:nvPr/>
        </p:nvSpPr>
        <p:spPr>
          <a:xfrm>
            <a:off x="9086850"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sp>
      <p:sp>
        <p:nvSpPr>
          <p:cNvPr id="34" name="Shape 31"/>
          <p:cNvSpPr/>
          <p:nvPr/>
        </p:nvSpPr>
        <p:spPr>
          <a:xfrm>
            <a:off x="566928" y="5550408"/>
            <a:ext cx="82296" cy="676656"/>
          </a:xfrm>
          <a:prstGeom prst="rect">
            <a:avLst/>
          </a:prstGeom>
          <a:solidFill>
            <a:srgbClr val="D97706"/>
          </a:solidFill>
          <a:ln/>
        </p:spPr>
      </p:sp>
      <p:sp>
        <p:nvSpPr>
          <p:cNvPr id="35" name="Text 32"/>
          <p:cNvSpPr/>
          <p:nvPr/>
        </p:nvSpPr>
        <p:spPr>
          <a:xfrm>
            <a:off x="822960" y="555040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ZONE CHOICE   </a:t>
            </a:r>
            <a:pPr indent="0" marL="0">
              <a:buNone/>
            </a:pP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7306056"/>
              </a:tblGrid>
              <a:tr h="329184">
                <a:tc>
                  <a:txBody>
                    <a:bodyPr/>
                    <a:lstStyle/>
                    <a:p>
                      <a:pPr indent="0" marL="0">
                        <a:buNone/>
                      </a:pPr>
                      <a:r>
                        <a:rPr lang="en-US" sz="1100" b="1" spc="100" kern="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spc="100" kern="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338328">
                <a:tc>
                  <a:txBody>
                    <a:bodyPr/>
                    <a:lstStyle/>
                    <a:p>
                      <a:pPr indent="0" marL="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727448"/>
            <a:ext cx="11055096" cy="676656"/>
          </a:xfrm>
          <a:prstGeom prst="rect">
            <a:avLst/>
          </a:prstGeom>
          <a:solidFill>
            <a:srgbClr val="EAF2F5"/>
          </a:solidFill>
          <a:ln/>
        </p:spPr>
      </p:sp>
      <p:sp>
        <p:nvSpPr>
          <p:cNvPr id="14" name="Shape 10"/>
          <p:cNvSpPr/>
          <p:nvPr/>
        </p:nvSpPr>
        <p:spPr>
          <a:xfrm>
            <a:off x="566928" y="4727448"/>
            <a:ext cx="82296" cy="676656"/>
          </a:xfrm>
          <a:prstGeom prst="rect">
            <a:avLst/>
          </a:prstGeom>
          <a:solidFill>
            <a:srgbClr val="D97706"/>
          </a:solidFill>
          <a:ln/>
        </p:spPr>
      </p:sp>
      <p:sp>
        <p:nvSpPr>
          <p:cNvPr id="15" name="Text 11"/>
          <p:cNvSpPr/>
          <p:nvPr/>
        </p:nvSpPr>
        <p:spPr>
          <a:xfrm>
            <a:off x="822960" y="47274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TRAINING   </a:t>
            </a:r>
            <a:pPr indent="0" marL="0">
              <a:buNone/>
            </a:pP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PROPOSED APPROACH</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indent="0" marL="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sp>
      <p:sp>
        <p:nvSpPr>
          <p:cNvPr id="8" name="Shape 5"/>
          <p:cNvSpPr/>
          <p:nvPr/>
        </p:nvSpPr>
        <p:spPr>
          <a:xfrm>
            <a:off x="566928" y="2350008"/>
            <a:ext cx="82296" cy="713232"/>
          </a:xfrm>
          <a:prstGeom prst="rect">
            <a:avLst/>
          </a:prstGeom>
          <a:solidFill>
            <a:srgbClr val="D97706"/>
          </a:solidFill>
          <a:ln/>
        </p:spPr>
      </p:sp>
      <p:sp>
        <p:nvSpPr>
          <p:cNvPr id="9" name="Text 6"/>
          <p:cNvSpPr/>
          <p:nvPr/>
        </p:nvSpPr>
        <p:spPr>
          <a:xfrm>
            <a:off x="822960" y="235000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1.  Name the pilot zone.   </a:t>
            </a:r>
            <a:pPr indent="0" marL="0">
              <a:buNone/>
            </a:pP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sp>
      <p:sp>
        <p:nvSpPr>
          <p:cNvPr id="11" name="Shape 8"/>
          <p:cNvSpPr/>
          <p:nvPr/>
        </p:nvSpPr>
        <p:spPr>
          <a:xfrm>
            <a:off x="566928" y="3172968"/>
            <a:ext cx="82296" cy="713232"/>
          </a:xfrm>
          <a:prstGeom prst="rect">
            <a:avLst/>
          </a:prstGeom>
          <a:solidFill>
            <a:srgbClr val="D97706"/>
          </a:solidFill>
          <a:ln/>
        </p:spPr>
      </p:sp>
      <p:sp>
        <p:nvSpPr>
          <p:cNvPr id="12" name="Text 9"/>
          <p:cNvSpPr/>
          <p:nvPr/>
        </p:nvSpPr>
        <p:spPr>
          <a:xfrm>
            <a:off x="822960" y="317296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pPr indent="0" marL="0">
              <a:buNone/>
            </a:pP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sp>
      <p:sp>
        <p:nvSpPr>
          <p:cNvPr id="14" name="Shape 11"/>
          <p:cNvSpPr/>
          <p:nvPr/>
        </p:nvSpPr>
        <p:spPr>
          <a:xfrm>
            <a:off x="566928" y="3995928"/>
            <a:ext cx="82296" cy="713232"/>
          </a:xfrm>
          <a:prstGeom prst="rect">
            <a:avLst/>
          </a:prstGeom>
          <a:solidFill>
            <a:srgbClr val="D97706"/>
          </a:solidFill>
          <a:ln/>
        </p:spPr>
      </p:sp>
      <p:sp>
        <p:nvSpPr>
          <p:cNvPr id="15" name="Text 12"/>
          <p:cNvSpPr/>
          <p:nvPr/>
        </p:nvSpPr>
        <p:spPr>
          <a:xfrm>
            <a:off x="822960" y="399592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3.  Approve read-only access.   </a:t>
            </a:r>
            <a:pPr indent="0" marL="0">
              <a:buNone/>
            </a:pP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sp>
      <p:sp>
        <p:nvSpPr>
          <p:cNvPr id="17" name="Shape 14"/>
          <p:cNvSpPr/>
          <p:nvPr/>
        </p:nvSpPr>
        <p:spPr>
          <a:xfrm>
            <a:off x="566928" y="4910328"/>
            <a:ext cx="82296" cy="786384"/>
          </a:xfrm>
          <a:prstGeom prst="rect">
            <a:avLst/>
          </a:prstGeom>
          <a:solidFill>
            <a:srgbClr val="D97706"/>
          </a:solidFill>
          <a:ln/>
        </p:spPr>
      </p:sp>
      <p:sp>
        <p:nvSpPr>
          <p:cNvPr id="18" name="Text 15"/>
          <p:cNvSpPr/>
          <p:nvPr/>
        </p:nvSpPr>
        <p:spPr>
          <a:xfrm>
            <a:off x="822960" y="491032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DECISION NEEDED BY   </a:t>
            </a:r>
            <a:pPr indent="0" marL="0">
              <a:buNone/>
            </a:pP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Ugo Ahukannah</cp:lastModifiedBy>
  <cp:revision>1</cp:revision>
  <dcterms:created xsi:type="dcterms:W3CDTF">2026-08-27T08:24:54Z</dcterms:created>
  <dcterms:modified xsi:type="dcterms:W3CDTF">2026-08-27T08:24:54Z</dcterms:modified>
</cp:coreProperties>
</file>