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63671"/>
  </p:normalViewPr>
  <p:slideViewPr>
    <p:cSldViewPr snapToGrid="0" snapToObjects="1">
      <p:cViewPr varScale="1">
        <p:scale>
          <a:sx n="48" d="100"/>
          <a:sy n="48" d="100"/>
        </p:scale>
        <p:origin x="200" y="9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1180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[Open standing, deck on screen, do not read the title.]</a:t>
            </a:r>
          </a:p>
          <a:p>
            <a:endParaRPr dirty="0"/>
          </a:p>
          <a:p>
            <a:r>
              <a:rPr lang="en-US" dirty="0"/>
              <a:t>Gretel, t</a:t>
            </a:r>
            <a:r>
              <a:rPr dirty="0"/>
              <a:t>hank you for </a:t>
            </a:r>
            <a:r>
              <a:rPr lang="en-US" dirty="0"/>
              <a:t>your time in the past 2 days</a:t>
            </a:r>
            <a:r>
              <a:rPr dirty="0"/>
              <a:t>. </a:t>
            </a:r>
            <a:r>
              <a:rPr lang="en-US" dirty="0"/>
              <a:t>I’ll quickly run you through t</a:t>
            </a:r>
            <a:r>
              <a:rPr dirty="0"/>
              <a:t>his</a:t>
            </a:r>
            <a:r>
              <a:rPr lang="en-US" dirty="0"/>
              <a:t> presentation which covers</a:t>
            </a:r>
          </a:p>
          <a:p>
            <a:pPr marL="171450" indent="-171450">
              <a:buFont typeface="Arial" panose="020B0604020202020204" pitchFamily="34" charset="0"/>
              <a:buChar char="•"/>
            </a:pPr>
            <a:r>
              <a:rPr dirty="0"/>
              <a:t>what I heard</a:t>
            </a:r>
            <a:r>
              <a:rPr lang="en-US" dirty="0"/>
              <a:t> from you</a:t>
            </a:r>
          </a:p>
          <a:p>
            <a:pPr marL="171450" indent="-171450">
              <a:buFont typeface="Arial" panose="020B0604020202020204" pitchFamily="34" charset="0"/>
              <a:buChar char="•"/>
            </a:pPr>
            <a:r>
              <a:rPr dirty="0"/>
              <a:t>what I think the problem actually is, and</a:t>
            </a:r>
            <a:endParaRPr lang="en-US" dirty="0"/>
          </a:p>
          <a:p>
            <a:pPr marL="171450" indent="-171450">
              <a:buFont typeface="Arial" panose="020B0604020202020204" pitchFamily="34" charset="0"/>
              <a:buChar char="•"/>
            </a:pPr>
            <a:r>
              <a:rPr dirty="0"/>
              <a:t>what I would do about it.</a:t>
            </a:r>
          </a:p>
          <a:p>
            <a:endParaRPr dirty="0"/>
          </a:p>
          <a:p>
            <a:r>
              <a:rPr dirty="0"/>
              <a:t>Three things to say up front.</a:t>
            </a:r>
            <a:endParaRPr lang="en-US" dirty="0"/>
          </a:p>
          <a:p>
            <a:pPr marL="171450" indent="-171450">
              <a:buFont typeface="Arial" panose="020B0604020202020204" pitchFamily="34" charset="0"/>
              <a:buChar char="•"/>
            </a:pPr>
            <a:r>
              <a:rPr dirty="0"/>
              <a:t>First, nothing in here needs you to replace the ERP.</a:t>
            </a:r>
            <a:endParaRPr lang="en-US" dirty="0"/>
          </a:p>
          <a:p>
            <a:pPr marL="171450" indent="-171450">
              <a:buFont typeface="Arial" panose="020B0604020202020204" pitchFamily="34" charset="0"/>
              <a:buChar char="•"/>
            </a:pPr>
            <a:r>
              <a:rPr dirty="0"/>
              <a:t>Second, nothing in here needs you to stop operations.</a:t>
            </a:r>
            <a:endParaRPr lang="en-US" dirty="0"/>
          </a:p>
          <a:p>
            <a:pPr marL="171450" indent="-171450">
              <a:buFont typeface="Arial" panose="020B0604020202020204" pitchFamily="34" charset="0"/>
              <a:buChar char="•"/>
            </a:pPr>
            <a:r>
              <a:rPr dirty="0"/>
              <a:t>Third, I am not proposing to track your drivers.</a:t>
            </a:r>
          </a:p>
          <a:p>
            <a:endParaRPr dirty="0"/>
          </a:p>
          <a:p>
            <a:r>
              <a:rPr dirty="0"/>
              <a:t>The whole deck takes about twenty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Before I go into the detail, let me play back what I understood about the business — partly so the room has the picture.</a:t>
            </a:r>
          </a:p>
          <a:p>
            <a:endParaRPr dirty="0"/>
          </a:p>
          <a:p>
            <a:pPr marL="171450" indent="-171450">
              <a:buFont typeface="Arial" panose="020B0604020202020204" pitchFamily="34" charset="0"/>
              <a:buChar char="•"/>
            </a:pPr>
            <a:r>
              <a:rPr dirty="0"/>
              <a:t>One hub, in </a:t>
            </a:r>
            <a:r>
              <a:rPr dirty="0" err="1"/>
              <a:t>Coslada</a:t>
            </a:r>
            <a:r>
              <a:rPr dirty="0"/>
              <a:t>, Madrid. Two flows through it — pallet freight coming in from Valencia and Catalonia, and B2C last-mile going out across the Madrid metropolitan area. Own fleet, topped up with freelance drivers when volumes spike.</a:t>
            </a:r>
          </a:p>
          <a:p>
            <a:endParaRPr dirty="0"/>
          </a:p>
          <a:p>
            <a:pPr marL="171450" indent="-171450">
              <a:buFont typeface="Arial" panose="020B0604020202020204" pitchFamily="34" charset="0"/>
              <a:buChar char="•"/>
            </a:pPr>
            <a:r>
              <a:rPr dirty="0"/>
              <a:t>The customers are e-commerce companies, B2B shippers, and businesses on regular parcel or pallet contracts. The e-commerce end is the demanding one: fast delivery, and increasingly, precise information about when the parcel will actually arrive.</a:t>
            </a:r>
          </a:p>
          <a:p>
            <a:endParaRPr dirty="0"/>
          </a:p>
          <a:p>
            <a:pPr marL="171450" indent="-171450">
              <a:buFont typeface="Arial" panose="020B0604020202020204" pitchFamily="34" charset="0"/>
              <a:buChar char="•"/>
            </a:pPr>
            <a:r>
              <a:rPr dirty="0"/>
              <a:t>The pressure is straightforward. Volumes spike at Black Friday and Christmas, margins are tight, and management wants reliability out of the resources already in place — not a bigger fleet and not more people.</a:t>
            </a:r>
          </a:p>
          <a:p>
            <a:endParaRPr dirty="0"/>
          </a:p>
          <a:p>
            <a:r>
              <a:rPr dirty="0"/>
              <a:t>[Point at the constraints strip.]</a:t>
            </a:r>
          </a:p>
          <a:p>
            <a:endParaRPr dirty="0"/>
          </a:p>
          <a:p>
            <a:r>
              <a:rPr dirty="0"/>
              <a:t>Three constraints shape everything I am going to propose: an ageing ERP, a fleet that is now mixed diesel and electric under Low Emission Zone rules, and an operation that cannot stop while we work. I come back to all three.</a:t>
            </a:r>
          </a:p>
          <a:p>
            <a:endParaRPr dirty="0"/>
          </a:p>
          <a:p>
            <a:r>
              <a:rPr dirty="0"/>
              <a:t>Likely question — "why does the fleet mix matter this early?"</a:t>
            </a:r>
          </a:p>
          <a:p>
            <a:r>
              <a:rPr dirty="0"/>
              <a:t>Answer: because it changes what a good route looks like. A route a diesel van completes comfortably may not be completable by an electric one, and today the planning does not distinguish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is your morning as you described it, not as a textbook describes it.</a:t>
            </a:r>
          </a:p>
          <a:p>
            <a:endParaRPr dirty="0"/>
          </a:p>
          <a:p>
            <a:pPr marL="228600" indent="-228600">
              <a:buFont typeface="+mj-lt"/>
              <a:buAutoNum type="arabicPeriod"/>
            </a:pPr>
            <a:r>
              <a:rPr dirty="0"/>
              <a:t>Orders arrive in the ERP. The traffic team exports them.</a:t>
            </a:r>
            <a:endParaRPr lang="en-US" dirty="0"/>
          </a:p>
          <a:p>
            <a:pPr marL="228600" indent="-228600">
              <a:buFont typeface="+mj-lt"/>
              <a:buAutoNum type="arabicPeriod"/>
            </a:pPr>
            <a:r>
              <a:rPr dirty="0"/>
              <a:t>The real planning tool is Excel, because the routing system is basic.</a:t>
            </a:r>
            <a:endParaRPr lang="en-US" dirty="0"/>
          </a:p>
          <a:p>
            <a:pPr marL="228600" indent="-228600">
              <a:buFont typeface="+mj-lt"/>
              <a:buAutoNum type="arabicPeriod"/>
            </a:pPr>
            <a:r>
              <a:rPr dirty="0"/>
              <a:t>Addresses get checked by hand.</a:t>
            </a:r>
            <a:endParaRPr lang="en-US" dirty="0"/>
          </a:p>
          <a:p>
            <a:pPr marL="228600" indent="-228600">
              <a:buFont typeface="+mj-lt"/>
              <a:buAutoNum type="arabicPeriod"/>
            </a:pPr>
            <a:r>
              <a:rPr dirty="0"/>
              <a:t>Deliveries get grouped, vans get assigned, the warehouse loads, and then</a:t>
            </a:r>
            <a:endParaRPr lang="en-US" dirty="0"/>
          </a:p>
          <a:p>
            <a:pPr marL="228600" indent="-228600">
              <a:buFont typeface="+mj-lt"/>
              <a:buAutoNum type="arabicPeriod"/>
            </a:pPr>
            <a:r>
              <a:rPr lang="en-US" dirty="0"/>
              <a:t>T</a:t>
            </a:r>
            <a:r>
              <a:rPr dirty="0"/>
              <a:t>he vans go.</a:t>
            </a:r>
          </a:p>
          <a:p>
            <a:endParaRPr dirty="0"/>
          </a:p>
          <a:p>
            <a:r>
              <a:rPr dirty="0"/>
              <a:t>The step in amber is the one that matters. You told me there have been days when the plan was still being adjusted while the vans should already have been leaving.</a:t>
            </a:r>
          </a:p>
          <a:p>
            <a:endParaRPr dirty="0"/>
          </a:p>
          <a:p>
            <a:r>
              <a:rPr dirty="0"/>
              <a:t>[Pause on the quote.]</a:t>
            </a:r>
          </a:p>
          <a:p>
            <a:endParaRPr dirty="0"/>
          </a:p>
          <a:p>
            <a:r>
              <a:rPr dirty="0"/>
              <a:t>I want to be clear about why that hour is expensive. It is not that the planners are slow. It is that every task on that chain is manual and every one of them sits on the critical path to departure. A twenty-minute overrun is not recovered later in the day — it converts straight into peak-traffic </a:t>
            </a:r>
            <a:r>
              <a:rPr dirty="0" err="1"/>
              <a:t>kilometres</a:t>
            </a:r>
            <a:r>
              <a:rPr dirty="0"/>
              <a:t>.</a:t>
            </a:r>
          </a:p>
          <a:p>
            <a:endParaRPr dirty="0"/>
          </a:p>
          <a:p>
            <a:r>
              <a:rPr dirty="0"/>
              <a:t>Likely question — "isn't this just a busy morning?"</a:t>
            </a:r>
          </a:p>
          <a:p>
            <a:r>
              <a:rPr dirty="0"/>
              <a:t>Answer: a busy morning that starts on time is fine. This one starts from a blank sheet every day, which is a different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Once the van is out of the gate, three people hold three different fragments of the truth.</a:t>
            </a:r>
          </a:p>
          <a:p>
            <a:endParaRPr dirty="0"/>
          </a:p>
          <a:p>
            <a:r>
              <a:rPr dirty="0"/>
              <a:t>Customer service takes the call and can say the parcel is out for delivery. That is all they can say. They cannot give a reliable one- or two-hour window, and you told me they often cannot answer "where is it?" from the screen.</a:t>
            </a:r>
          </a:p>
          <a:p>
            <a:endParaRPr dirty="0"/>
          </a:p>
          <a:p>
            <a:r>
              <a:rPr dirty="0"/>
              <a:t>The traffic team owns the decision — route changes, absent drivers, vehicle faults — but they are deciding without a complete real-time view.</a:t>
            </a:r>
          </a:p>
          <a:p>
            <a:endParaRPr dirty="0"/>
          </a:p>
          <a:p>
            <a:r>
              <a:rPr dirty="0"/>
              <a:t>And the answer, in the dark box, is on the driver's phone. You said the fastest option is still to call the driver. Own drivers record on the PDA; freelance drivers do not all follow the same process.</a:t>
            </a:r>
          </a:p>
          <a:p>
            <a:endParaRPr dirty="0"/>
          </a:p>
          <a:p>
            <a:r>
              <a:rPr dirty="0"/>
              <a:t>[Read the quote.]</a:t>
            </a:r>
          </a:p>
          <a:p>
            <a:endParaRPr dirty="0"/>
          </a:p>
          <a:p>
            <a:r>
              <a:rPr dirty="0"/>
              <a:t>That is three handoffs to answer one simple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 have put your own numbers </a:t>
            </a:r>
            <a:r>
              <a:rPr lang="en-US" dirty="0"/>
              <a:t>here</a:t>
            </a:r>
            <a:r>
              <a:rPr dirty="0"/>
              <a:t>.</a:t>
            </a:r>
          </a:p>
          <a:p>
            <a:endParaRPr dirty="0"/>
          </a:p>
          <a:p>
            <a:pPr marL="171450" indent="-171450">
              <a:buFont typeface="Arial" panose="020B0604020202020204" pitchFamily="34" charset="0"/>
              <a:buChar char="•"/>
            </a:pPr>
            <a:r>
              <a:rPr lang="en-US" dirty="0"/>
              <a:t>12-14%</a:t>
            </a:r>
            <a:r>
              <a:rPr dirty="0"/>
              <a:t> failed first attempts in the worst residential zones. Those parcels come back to the hub and get processed again the next day, so every failure is paid for twice.</a:t>
            </a:r>
          </a:p>
          <a:p>
            <a:endParaRPr dirty="0"/>
          </a:p>
          <a:p>
            <a:pPr marL="171450" indent="-171450">
              <a:buFont typeface="Arial" panose="020B0604020202020204" pitchFamily="34" charset="0"/>
              <a:buChar char="•"/>
            </a:pPr>
            <a:r>
              <a:rPr dirty="0"/>
              <a:t>SLA penalties from two important B2C customers. That is the one I would lose sleep over — it means reliability, not price, is what is now at risk commercially.</a:t>
            </a:r>
          </a:p>
          <a:p>
            <a:endParaRPr dirty="0"/>
          </a:p>
          <a:p>
            <a:pPr marL="171450" indent="-171450">
              <a:buFont typeface="Arial" panose="020B0604020202020204" pitchFamily="34" charset="0"/>
              <a:buChar char="•"/>
            </a:pPr>
            <a:r>
              <a:rPr dirty="0"/>
              <a:t>Late departures run into Madrid peak traffic and the overrun compounds across every stop after it.</a:t>
            </a:r>
          </a:p>
          <a:p>
            <a:endParaRPr dirty="0"/>
          </a:p>
          <a:p>
            <a:pPr marL="171450" indent="-171450">
              <a:buFont typeface="Arial" panose="020B0604020202020204" pitchFamily="34" charset="0"/>
              <a:buChar char="•"/>
            </a:pPr>
            <a:r>
              <a:rPr dirty="0"/>
              <a:t>And your traffic team spends its day re-planning and calling drivers, which is capacity that should be going to genuine exceptions.</a:t>
            </a:r>
          </a:p>
          <a:p>
            <a:endParaRPr dirty="0"/>
          </a:p>
          <a:p>
            <a:r>
              <a:rPr dirty="0"/>
              <a:t>Likely question — "is 12</a:t>
            </a:r>
            <a:r>
              <a:rPr lang="en-US" dirty="0"/>
              <a:t>-</a:t>
            </a:r>
            <a:r>
              <a:rPr dirty="0"/>
              <a:t>14</a:t>
            </a:r>
            <a:r>
              <a:rPr lang="en-US" dirty="0"/>
              <a:t>%</a:t>
            </a:r>
            <a:r>
              <a:rPr dirty="0"/>
              <a:t> unusual?"</a:t>
            </a:r>
          </a:p>
          <a:p>
            <a:r>
              <a:rPr dirty="0"/>
              <a:t>Answer: for the worst residential zones, no. But it is high enough that it is now showing up in your customer contracts, which makes it your problem rather than the industry's.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These two came from you at the end, when I asked what I had not asked about. They turned out to be </a:t>
            </a:r>
            <a:r>
              <a:rPr lang="en-US" dirty="0"/>
              <a:t>a very</a:t>
            </a:r>
            <a:r>
              <a:rPr dirty="0"/>
              <a:t> useful part of the conversation.</a:t>
            </a:r>
          </a:p>
          <a:p>
            <a:endParaRPr dirty="0"/>
          </a:p>
          <a:p>
            <a:pPr marL="171450" indent="-171450">
              <a:buFont typeface="Arial" panose="020B0604020202020204" pitchFamily="34" charset="0"/>
              <a:buChar char="•"/>
            </a:pPr>
            <a:r>
              <a:rPr dirty="0"/>
              <a:t>An experienced traffic manager left recently, and route logic, awkward addresses and local timing left with them. That knowledge was never in the system, so every new planner rebuilds it from scratch under morning time pressure.</a:t>
            </a:r>
          </a:p>
          <a:p>
            <a:endParaRPr dirty="0"/>
          </a:p>
          <a:p>
            <a:pPr marL="171450" indent="-171450">
              <a:buFont typeface="Arial" panose="020B0604020202020204" pitchFamily="34" charset="0"/>
              <a:buChar char="•"/>
            </a:pPr>
            <a:r>
              <a:rPr dirty="0"/>
              <a:t>Second, Low Emission Zone rules have made the fleet mixed, and the planning process does not treat diesel and electric differently enough. You said real electric range falls short of the paper figure under stop-and-go traffic and high stop counts.</a:t>
            </a:r>
          </a:p>
          <a:p>
            <a:endParaRPr dirty="0"/>
          </a:p>
          <a:p>
            <a:r>
              <a:rPr dirty="0"/>
              <a:t>[Pause.]</a:t>
            </a:r>
          </a:p>
          <a:p>
            <a:endParaRPr dirty="0"/>
          </a:p>
          <a:p>
            <a:r>
              <a:rPr dirty="0"/>
              <a:t>Neither of these is a people problem. Both are facts the business relies on daily that exist nowhere it can query. So</a:t>
            </a:r>
            <a:r>
              <a:rPr lang="en-US" dirty="0"/>
              <a:t>,</a:t>
            </a:r>
            <a:r>
              <a:rPr dirty="0"/>
              <a:t> every plan either re-derives them or gets them wrong.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If you take one sentence from this deck, take this one.</a:t>
            </a:r>
          </a:p>
          <a:p>
            <a:endParaRPr dirty="0"/>
          </a:p>
          <a:p>
            <a:pPr marL="171450" indent="-171450">
              <a:buFont typeface="Arial" panose="020B0604020202020204" pitchFamily="34" charset="0"/>
              <a:buChar char="•"/>
            </a:pPr>
            <a:r>
              <a:rPr dirty="0" err="1"/>
              <a:t>IberiaNex</a:t>
            </a:r>
            <a:r>
              <a:rPr dirty="0"/>
              <a:t> plans each morning on data it cannot </a:t>
            </a:r>
            <a:r>
              <a:rPr lang="en-US" dirty="0"/>
              <a:t>trust and</a:t>
            </a:r>
            <a:r>
              <a:rPr dirty="0"/>
              <a:t> runs each afternoon on a picture it cannot see.</a:t>
            </a:r>
          </a:p>
          <a:p>
            <a:endParaRPr dirty="0"/>
          </a:p>
          <a:p>
            <a:r>
              <a:rPr dirty="0"/>
              <a:t>[Let it sit.]</a:t>
            </a:r>
          </a:p>
          <a:p>
            <a:endParaRPr dirty="0"/>
          </a:p>
          <a:p>
            <a:r>
              <a:rPr dirty="0"/>
              <a:t>Everything I have just shown you — the </a:t>
            </a:r>
            <a:r>
              <a:rPr lang="en-US" dirty="0"/>
              <a:t>12-14%</a:t>
            </a:r>
            <a:r>
              <a:rPr dirty="0"/>
              <a:t>, the penalties, the calls to drivers — is downstream of those two gaps.</a:t>
            </a:r>
          </a:p>
          <a:p>
            <a:endParaRPr dirty="0"/>
          </a:p>
          <a:p>
            <a:r>
              <a:rPr dirty="0"/>
              <a:t>And I want to say plainly what this is not.</a:t>
            </a:r>
            <a:endParaRPr lang="en-US" dirty="0"/>
          </a:p>
          <a:p>
            <a:pPr marL="171450" indent="-171450">
              <a:buFont typeface="Arial" panose="020B0604020202020204" pitchFamily="34" charset="0"/>
              <a:buChar char="•"/>
            </a:pPr>
            <a:r>
              <a:rPr dirty="0"/>
              <a:t>It is not a routing-algorithm problem.</a:t>
            </a:r>
            <a:endParaRPr lang="en-US" dirty="0"/>
          </a:p>
          <a:p>
            <a:pPr marL="171450" indent="-171450">
              <a:buFont typeface="Arial" panose="020B0604020202020204" pitchFamily="34" charset="0"/>
              <a:buChar char="•"/>
            </a:pPr>
            <a:r>
              <a:rPr dirty="0"/>
              <a:t>Your planners know the roads better than any </a:t>
            </a:r>
            <a:r>
              <a:rPr dirty="0" err="1"/>
              <a:t>optimiser</a:t>
            </a:r>
            <a:r>
              <a:rPr dirty="0"/>
              <a:t> will.</a:t>
            </a:r>
            <a:endParaRPr lang="en-US" dirty="0"/>
          </a:p>
          <a:p>
            <a:pPr marL="171450" indent="-171450">
              <a:buFont typeface="Arial" panose="020B0604020202020204" pitchFamily="34" charset="0"/>
              <a:buChar char="•"/>
            </a:pPr>
            <a:r>
              <a:rPr dirty="0"/>
              <a:t>What they lack is clean addresses, an earlier start and a shared view after the gate.</a:t>
            </a:r>
          </a:p>
          <a:p>
            <a:endParaRPr dirty="0"/>
          </a:p>
          <a:p>
            <a:r>
              <a:rPr dirty="0"/>
              <a:t>Which is the same thing you said you wanted: more reliable deliveries without adding vehicles or people every time volume grows.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Three changes</a:t>
            </a:r>
            <a:r>
              <a:rPr lang="en-US" dirty="0"/>
              <a:t> proposed</a:t>
            </a:r>
            <a:r>
              <a:rPr dirty="0"/>
              <a:t>, and the order matters.</a:t>
            </a:r>
          </a:p>
          <a:p>
            <a:endParaRPr dirty="0"/>
          </a:p>
          <a:p>
            <a:pPr marL="171450" indent="-171450">
              <a:buFont typeface="Arial" panose="020B0604020202020204" pitchFamily="34" charset="0"/>
              <a:buChar char="•"/>
            </a:pPr>
            <a:r>
              <a:rPr dirty="0"/>
              <a:t>One</a:t>
            </a:r>
            <a:r>
              <a:rPr lang="en-US" dirty="0"/>
              <a:t>:</a:t>
            </a:r>
            <a:r>
              <a:rPr dirty="0"/>
              <a:t> addresses you can trust and a window you can actually promise.</a:t>
            </a:r>
          </a:p>
          <a:p>
            <a:endParaRPr dirty="0"/>
          </a:p>
          <a:p>
            <a:pPr marL="171450" indent="-171450">
              <a:buFont typeface="Arial" panose="020B0604020202020204" pitchFamily="34" charset="0"/>
              <a:buChar char="•"/>
            </a:pPr>
            <a:r>
              <a:rPr dirty="0"/>
              <a:t>Two</a:t>
            </a:r>
            <a:r>
              <a:rPr lang="en-US" dirty="0"/>
              <a:t>:</a:t>
            </a:r>
            <a:r>
              <a:rPr dirty="0"/>
              <a:t> a morning plan that is already built when the planners arrive.</a:t>
            </a:r>
          </a:p>
          <a:p>
            <a:endParaRPr dirty="0"/>
          </a:p>
          <a:p>
            <a:pPr marL="171450" indent="-171450">
              <a:buFont typeface="Arial" panose="020B0604020202020204" pitchFamily="34" charset="0"/>
              <a:buChar char="•"/>
            </a:pPr>
            <a:r>
              <a:rPr dirty="0"/>
              <a:t>Three</a:t>
            </a:r>
            <a:r>
              <a:rPr lang="en-US" dirty="0"/>
              <a:t>:</a:t>
            </a:r>
            <a:r>
              <a:rPr dirty="0"/>
              <a:t> one picture of the day that customer service can read.</a:t>
            </a:r>
          </a:p>
          <a:p>
            <a:endParaRPr dirty="0"/>
          </a:p>
          <a:p>
            <a:r>
              <a:rPr dirty="0"/>
              <a:t>The sequence is not arbitrary.</a:t>
            </a:r>
            <a:endParaRPr lang="en-US" dirty="0"/>
          </a:p>
          <a:p>
            <a:pPr marL="171450" indent="-171450">
              <a:buFont typeface="Arial" panose="020B0604020202020204" pitchFamily="34" charset="0"/>
              <a:buChar char="•"/>
            </a:pPr>
            <a:r>
              <a:rPr dirty="0"/>
              <a:t>Clean addresses are what make the other two worth having — a route proposal built on bad addresses is a faster way to fail, and</a:t>
            </a:r>
            <a:endParaRPr lang="en-US" dirty="0"/>
          </a:p>
          <a:p>
            <a:pPr marL="171450" indent="-171450">
              <a:buFont typeface="Arial" panose="020B0604020202020204" pitchFamily="34" charset="0"/>
              <a:buChar char="•"/>
            </a:pPr>
            <a:r>
              <a:rPr lang="en-US" dirty="0"/>
              <a:t>A</a:t>
            </a:r>
            <a:r>
              <a:rPr dirty="0"/>
              <a:t> live map of a route that was wrong at seven in the morning does not help anyone.</a:t>
            </a:r>
          </a:p>
          <a:p>
            <a:endParaRPr dirty="0"/>
          </a:p>
          <a:p>
            <a:r>
              <a:rPr dirty="0"/>
              <a:t>And nothing here requires replacing the ERP. That is deliberate.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is the one that attacks the </a:t>
            </a:r>
            <a:r>
              <a:rPr lang="en-US" dirty="0"/>
              <a:t>12-14% </a:t>
            </a:r>
            <a:r>
              <a:rPr dirty="0"/>
              <a:t>directly.</a:t>
            </a:r>
            <a:endParaRPr lang="en-US" dirty="0"/>
          </a:p>
          <a:p>
            <a:endParaRPr lang="en-US" dirty="0"/>
          </a:p>
          <a:p>
            <a:r>
              <a:rPr dirty="0"/>
              <a:t>What we build: </a:t>
            </a:r>
            <a:endParaRPr lang="en-US" dirty="0"/>
          </a:p>
          <a:p>
            <a:pPr marL="171450" indent="-171450">
              <a:buFont typeface="Arial" panose="020B0604020202020204" pitchFamily="34" charset="0"/>
              <a:buChar char="•"/>
            </a:pPr>
            <a:r>
              <a:rPr dirty="0"/>
              <a:t>address </a:t>
            </a:r>
            <a:r>
              <a:rPr dirty="0" err="1"/>
              <a:t>normalisation</a:t>
            </a:r>
            <a:r>
              <a:rPr dirty="0"/>
              <a:t> and geocoding trained on </a:t>
            </a:r>
            <a:r>
              <a:rPr lang="en-US" dirty="0"/>
              <a:t>24</a:t>
            </a:r>
            <a:r>
              <a:rPr dirty="0"/>
              <a:t> months of your own orders and proof-of-delivery records — your history, not a generic address database.</a:t>
            </a:r>
            <a:endParaRPr lang="en-US" dirty="0"/>
          </a:p>
          <a:p>
            <a:pPr marL="171450" indent="-171450">
              <a:buFont typeface="Arial" panose="020B0604020202020204" pitchFamily="34" charset="0"/>
              <a:buChar char="•"/>
            </a:pPr>
            <a:r>
              <a:rPr dirty="0"/>
              <a:t>A first-attempt risk score per stop, using what happened at that address, in that building, at that hour.</a:t>
            </a:r>
            <a:endParaRPr lang="en-US" dirty="0"/>
          </a:p>
          <a:p>
            <a:pPr marL="171450" indent="-171450">
              <a:buFont typeface="Arial" panose="020B0604020202020204" pitchFamily="34" charset="0"/>
              <a:buChar char="•"/>
            </a:pPr>
            <a:r>
              <a:rPr dirty="0"/>
              <a:t>A predicted one- to two-hour window published the evening before and confirmed on the morning.</a:t>
            </a:r>
            <a:endParaRPr lang="en-US" dirty="0"/>
          </a:p>
          <a:p>
            <a:pPr marL="171450" indent="-171450">
              <a:buFont typeface="Arial" panose="020B0604020202020204" pitchFamily="34" charset="0"/>
              <a:buChar char="•"/>
            </a:pPr>
            <a:r>
              <a:rPr dirty="0"/>
              <a:t>And a review queue for the addresses the model is not sure about, where a person confirms and the fix is kept.</a:t>
            </a:r>
          </a:p>
          <a:p>
            <a:endParaRPr dirty="0"/>
          </a:p>
          <a:p>
            <a:r>
              <a:rPr dirty="0"/>
              <a:t>What changes on the day is on the right.</a:t>
            </a:r>
            <a:endParaRPr lang="en-US" dirty="0"/>
          </a:p>
          <a:p>
            <a:pPr marL="171450" indent="-171450">
              <a:buFont typeface="Arial" panose="020B0604020202020204" pitchFamily="34" charset="0"/>
              <a:buChar char="•"/>
            </a:pPr>
            <a:r>
              <a:rPr dirty="0"/>
              <a:t>Customer service answers from the screen.</a:t>
            </a:r>
            <a:endParaRPr lang="en-US" dirty="0"/>
          </a:p>
          <a:p>
            <a:pPr marL="171450" indent="-171450">
              <a:buFont typeface="Arial" panose="020B0604020202020204" pitchFamily="34" charset="0"/>
              <a:buChar char="•"/>
            </a:pPr>
            <a:r>
              <a:rPr dirty="0"/>
              <a:t>High-risk stops get a message before the van is loaded, not after a failed doorstep.</a:t>
            </a:r>
            <a:endParaRPr lang="en-US" dirty="0"/>
          </a:p>
          <a:p>
            <a:pPr marL="171450" indent="-171450">
              <a:buFont typeface="Arial" panose="020B0604020202020204" pitchFamily="34" charset="0"/>
              <a:buChar char="•"/>
            </a:pPr>
            <a:r>
              <a:rPr dirty="0"/>
              <a:t>And a bad address gets corrected once instead of failing again next month.</a:t>
            </a:r>
          </a:p>
          <a:p>
            <a:endParaRPr dirty="0"/>
          </a:p>
          <a:p>
            <a:r>
              <a:rPr dirty="0"/>
              <a:t>[Read the quote.]</a:t>
            </a:r>
          </a:p>
          <a:p>
            <a:endParaRPr dirty="0"/>
          </a:p>
          <a:p>
            <a:r>
              <a:rPr dirty="0"/>
              <a:t>Likely question — "how accurate would the window be?"</a:t>
            </a:r>
          </a:p>
          <a:p>
            <a:r>
              <a:rPr dirty="0"/>
              <a:t>Answer: I would not promise a number before Weeks 1 to 2. That is exactly what the baseline is for. If your timestamp history is too thin to support a window, I will tell you and we drop this part.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is the same morning I showed you earlier, </a:t>
            </a:r>
            <a:r>
              <a:rPr lang="en-US" dirty="0"/>
              <a:t>now </a:t>
            </a:r>
            <a:r>
              <a:rPr dirty="0"/>
              <a:t>rearranged.</a:t>
            </a:r>
          </a:p>
          <a:p>
            <a:endParaRPr dirty="0"/>
          </a:p>
          <a:p>
            <a:pPr marL="171450" indent="-171450">
              <a:buFont typeface="Arial" panose="020B0604020202020204" pitchFamily="34" charset="0"/>
              <a:buChar char="•"/>
            </a:pPr>
            <a:r>
              <a:rPr dirty="0"/>
              <a:t>The order file closes overnight. Routes are proposed automatically.</a:t>
            </a:r>
            <a:endParaRPr lang="en-US" dirty="0"/>
          </a:p>
          <a:p>
            <a:pPr marL="171450" indent="-171450">
              <a:buFont typeface="Arial" panose="020B0604020202020204" pitchFamily="34" charset="0"/>
              <a:buChar char="•"/>
            </a:pPr>
            <a:r>
              <a:rPr dirty="0"/>
              <a:t>The planner reviews only the exceptions rather than building from a blank sheet.</a:t>
            </a:r>
            <a:endParaRPr lang="en-US" dirty="0"/>
          </a:p>
          <a:p>
            <a:pPr marL="171450" indent="-171450">
              <a:buFont typeface="Arial" panose="020B0604020202020204" pitchFamily="34" charset="0"/>
              <a:buChar char="•"/>
            </a:pPr>
            <a:r>
              <a:rPr dirty="0"/>
              <a:t>Vehicle type and Low Emission Zone rules are applied.</a:t>
            </a:r>
            <a:endParaRPr lang="en-US" dirty="0"/>
          </a:p>
          <a:p>
            <a:pPr marL="171450" indent="-171450">
              <a:buFont typeface="Arial" panose="020B0604020202020204" pitchFamily="34" charset="0"/>
              <a:buChar char="•"/>
            </a:pPr>
            <a:r>
              <a:rPr dirty="0"/>
              <a:t>And the vans leave on the slot.</a:t>
            </a:r>
          </a:p>
          <a:p>
            <a:endParaRPr dirty="0"/>
          </a:p>
          <a:p>
            <a:r>
              <a:rPr dirty="0"/>
              <a:t>Three things underneath it.</a:t>
            </a:r>
          </a:p>
          <a:p>
            <a:endParaRPr dirty="0"/>
          </a:p>
          <a:p>
            <a:pPr marL="171450" indent="-171450">
              <a:buFont typeface="Arial" panose="020B0604020202020204" pitchFamily="34" charset="0"/>
              <a:buChar char="•"/>
            </a:pPr>
            <a:r>
              <a:rPr dirty="0"/>
              <a:t>EV-aware means battery range modelled from stop count and stop-and-go conditions, not the datasheet figure — which is the gap you described.</a:t>
            </a:r>
          </a:p>
          <a:p>
            <a:endParaRPr dirty="0"/>
          </a:p>
          <a:p>
            <a:pPr marL="171450" indent="-171450">
              <a:buFont typeface="Arial" panose="020B0604020202020204" pitchFamily="34" charset="0"/>
              <a:buChar char="•"/>
            </a:pPr>
            <a:r>
              <a:rPr dirty="0"/>
              <a:t>Knowledge kept means the access constraints and awkward buildings and reliable timings get mined out of historic routes and out of every correction a planner makes. </a:t>
            </a:r>
            <a:r>
              <a:rPr lang="en-US" dirty="0"/>
              <a:t>So,</a:t>
            </a:r>
            <a:r>
              <a:rPr dirty="0"/>
              <a:t> tomorrow's departure does not depend on one person's memory.</a:t>
            </a:r>
          </a:p>
          <a:p>
            <a:endParaRPr dirty="0"/>
          </a:p>
          <a:p>
            <a:pPr marL="171450" indent="-171450">
              <a:buFont typeface="Arial" panose="020B0604020202020204" pitchFamily="34" charset="0"/>
              <a:buChar char="•"/>
            </a:pPr>
            <a:r>
              <a:rPr dirty="0"/>
              <a:t>And the dark card is the important one. Proposed, never imposed. The planner accepts, edits or rejects. Every override is captured and improves the next proposal. Nothing dispatches without a person having seen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You were direct about this, so I will be direct back. You said continuous GPS tracking would be read as surveillance. I agree, and I am not proposing it.</a:t>
            </a:r>
          </a:p>
          <a:p>
            <a:endParaRPr dirty="0"/>
          </a:p>
          <a:p>
            <a:pPr marL="171450" indent="-171450">
              <a:buFont typeface="Arial" panose="020B0604020202020204" pitchFamily="34" charset="0"/>
              <a:buChar char="•"/>
            </a:pPr>
            <a:r>
              <a:rPr dirty="0"/>
              <a:t>What I am proposing is five events</a:t>
            </a:r>
            <a:r>
              <a:rPr lang="en-US" dirty="0"/>
              <a:t> - </a:t>
            </a:r>
            <a:r>
              <a:rPr dirty="0"/>
              <a:t>departed hub, arrived at stop, delivered, not delivered with a reason code, route complete. That is it.</a:t>
            </a:r>
            <a:endParaRPr lang="en-US" dirty="0"/>
          </a:p>
          <a:p>
            <a:pPr marL="171450" indent="-171450">
              <a:buFont typeface="Arial" panose="020B0604020202020204" pitchFamily="34" charset="0"/>
              <a:buChar char="•"/>
            </a:pPr>
            <a:endParaRPr lang="en-US" dirty="0"/>
          </a:p>
          <a:p>
            <a:pPr marL="0" indent="0">
              <a:buFont typeface="Arial" panose="020B0604020202020204" pitchFamily="34" charset="0"/>
              <a:buNone/>
            </a:pPr>
            <a:r>
              <a:rPr dirty="0"/>
              <a:t>On the right is why that stays inside GDPR.</a:t>
            </a:r>
            <a:endParaRPr lang="en-US" dirty="0"/>
          </a:p>
          <a:p>
            <a:pPr marL="171450" indent="-171450">
              <a:buFont typeface="Arial" panose="020B0604020202020204" pitchFamily="34" charset="0"/>
              <a:buChar char="•"/>
            </a:pPr>
            <a:r>
              <a:rPr dirty="0"/>
              <a:t>Location is captured at the stop, not all day.</a:t>
            </a:r>
            <a:endParaRPr lang="en-US" dirty="0"/>
          </a:p>
          <a:p>
            <a:pPr marL="171450" indent="-171450">
              <a:buFont typeface="Arial" panose="020B0604020202020204" pitchFamily="34" charset="0"/>
              <a:buChar char="•"/>
            </a:pPr>
            <a:r>
              <a:rPr dirty="0"/>
              <a:t>The same five events come from employed and freelance drivers, which is one app screen and one contract clause.</a:t>
            </a:r>
            <a:endParaRPr lang="en-US" dirty="0"/>
          </a:p>
          <a:p>
            <a:pPr marL="171450" indent="-171450">
              <a:buFont typeface="Arial" panose="020B0604020202020204" pitchFamily="34" charset="0"/>
              <a:buChar char="•"/>
            </a:pPr>
            <a:r>
              <a:rPr dirty="0"/>
              <a:t>No driver scoring, no league table, no automated performance record.</a:t>
            </a:r>
            <a:endParaRPr lang="en-US" dirty="0"/>
          </a:p>
          <a:p>
            <a:pPr marL="171450" indent="-171450">
              <a:buFont typeface="Arial" panose="020B0604020202020204" pitchFamily="34" charset="0"/>
              <a:buChar char="•"/>
            </a:pPr>
            <a:r>
              <a:rPr dirty="0"/>
              <a:t>And role-based access so each corporate client's data stays inside its own confidentiality boundary.</a:t>
            </a:r>
          </a:p>
          <a:p>
            <a:endParaRPr dirty="0"/>
          </a:p>
          <a:p>
            <a:r>
              <a:rPr dirty="0"/>
              <a:t>[Read the quote.]</a:t>
            </a:r>
          </a:p>
          <a:p>
            <a:endParaRPr dirty="0"/>
          </a:p>
          <a:p>
            <a:r>
              <a:rPr dirty="0"/>
              <a:t>Five events is enough for customer service to answer the question. It is not enough to build a surveillance record.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 want to be as clear about the </a:t>
            </a:r>
            <a:r>
              <a:rPr lang="en-US" dirty="0"/>
              <a:t>scope</a:t>
            </a:r>
            <a:r>
              <a:rPr dirty="0"/>
              <a:t>.</a:t>
            </a:r>
          </a:p>
          <a:p>
            <a:endParaRPr dirty="0"/>
          </a:p>
          <a:p>
            <a:r>
              <a:rPr dirty="0"/>
              <a:t>In scope:</a:t>
            </a:r>
            <a:endParaRPr lang="en-US" dirty="0"/>
          </a:p>
          <a:p>
            <a:pPr marL="171450" indent="-171450">
              <a:buFont typeface="Arial" panose="020B0604020202020204" pitchFamily="34" charset="0"/>
              <a:buChar char="•"/>
            </a:pPr>
            <a:r>
              <a:rPr lang="en-US" dirty="0"/>
              <a:t>A</a:t>
            </a:r>
            <a:r>
              <a:rPr dirty="0"/>
              <a:t>ddress quality and windows</a:t>
            </a:r>
            <a:endParaRPr lang="en-US" dirty="0"/>
          </a:p>
          <a:p>
            <a:pPr marL="171450" indent="-171450">
              <a:buFont typeface="Arial" panose="020B0604020202020204" pitchFamily="34" charset="0"/>
              <a:buChar char="•"/>
            </a:pPr>
            <a:r>
              <a:rPr lang="en-US" dirty="0"/>
              <a:t>T</a:t>
            </a:r>
            <a:r>
              <a:rPr dirty="0"/>
              <a:t>he overnight route proposal your planners own</a:t>
            </a:r>
            <a:endParaRPr lang="en-US" dirty="0"/>
          </a:p>
          <a:p>
            <a:pPr marL="171450" indent="-171450">
              <a:buFont typeface="Arial" panose="020B0604020202020204" pitchFamily="34" charset="0"/>
              <a:buChar char="•"/>
            </a:pPr>
            <a:r>
              <a:rPr lang="en-US" dirty="0"/>
              <a:t>F</a:t>
            </a:r>
            <a:r>
              <a:rPr dirty="0"/>
              <a:t>ive </a:t>
            </a:r>
            <a:r>
              <a:rPr dirty="0" err="1"/>
              <a:t>standardised</a:t>
            </a:r>
            <a:r>
              <a:rPr dirty="0"/>
              <a:t> events and one intraday view, and</a:t>
            </a:r>
            <a:endParaRPr lang="en-US" dirty="0"/>
          </a:p>
          <a:p>
            <a:pPr marL="171450" indent="-171450">
              <a:buFont typeface="Arial" panose="020B0604020202020204" pitchFamily="34" charset="0"/>
              <a:buChar char="•"/>
            </a:pPr>
            <a:r>
              <a:rPr lang="en-US" dirty="0"/>
              <a:t>R</a:t>
            </a:r>
            <a:r>
              <a:rPr dirty="0"/>
              <a:t>ead-only integration with exports you already produce.</a:t>
            </a:r>
          </a:p>
          <a:p>
            <a:endParaRPr dirty="0"/>
          </a:p>
          <a:p>
            <a:r>
              <a:rPr dirty="0"/>
              <a:t>Out of scope, on purpose:</a:t>
            </a:r>
            <a:endParaRPr lang="en-US" dirty="0"/>
          </a:p>
          <a:p>
            <a:pPr marL="171450" indent="-171450">
              <a:buFont typeface="Arial" panose="020B0604020202020204" pitchFamily="34" charset="0"/>
              <a:buChar char="•"/>
            </a:pPr>
            <a:r>
              <a:rPr lang="en-US" dirty="0"/>
              <a:t>N</a:t>
            </a:r>
            <a:r>
              <a:rPr dirty="0"/>
              <a:t>o ERP replacement or migration — the old system stays exactly where it is.</a:t>
            </a:r>
            <a:endParaRPr lang="en-US" dirty="0"/>
          </a:p>
          <a:p>
            <a:pPr marL="171450" indent="-171450">
              <a:buFont typeface="Arial" panose="020B0604020202020204" pitchFamily="34" charset="0"/>
              <a:buChar char="•"/>
            </a:pPr>
            <a:r>
              <a:rPr dirty="0"/>
              <a:t>No continuous tracking, driver scoring or automated disciplinary decisions.</a:t>
            </a:r>
            <a:endParaRPr lang="en-US" dirty="0"/>
          </a:p>
          <a:p>
            <a:pPr marL="171450" indent="-171450">
              <a:buFont typeface="Arial" panose="020B0604020202020204" pitchFamily="34" charset="0"/>
              <a:buChar char="•"/>
            </a:pPr>
            <a:r>
              <a:rPr dirty="0"/>
              <a:t>No system altering a customer commitment without a named person approving it.</a:t>
            </a:r>
            <a:endParaRPr lang="en-US" dirty="0"/>
          </a:p>
          <a:p>
            <a:pPr marL="171450" indent="-171450">
              <a:buFont typeface="Arial" panose="020B0604020202020204" pitchFamily="34" charset="0"/>
              <a:buChar char="•"/>
            </a:pPr>
            <a:r>
              <a:rPr dirty="0"/>
              <a:t>No warehouse automation and no change to night consolidation.</a:t>
            </a:r>
            <a:endParaRPr lang="en-US" dirty="0"/>
          </a:p>
          <a:p>
            <a:pPr marL="171450" indent="-171450">
              <a:buFont typeface="Arial" panose="020B0604020202020204" pitchFamily="34" charset="0"/>
              <a:buChar char="•"/>
            </a:pPr>
            <a:r>
              <a:rPr dirty="0"/>
              <a:t>And no pilot activity during Black Friday or the Christmas peak.</a:t>
            </a:r>
          </a:p>
          <a:p>
            <a:endParaRPr dirty="0"/>
          </a:p>
          <a:p>
            <a:r>
              <a:rPr dirty="0"/>
              <a:t>You said you cannot stop operations to implement something new. Nothing in this proposal </a:t>
            </a:r>
            <a:r>
              <a:rPr lang="en-US" dirty="0"/>
              <a:t>is </a:t>
            </a:r>
            <a:r>
              <a:rPr dirty="0"/>
              <a:t>ask</a:t>
            </a:r>
            <a:r>
              <a:rPr lang="en-US" dirty="0"/>
              <a:t>ing</a:t>
            </a:r>
            <a:r>
              <a:rPr dirty="0"/>
              <a:t> you to.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These are your measures, not mine. You listed them when I asked how you would know an improvement had genuinely worked.</a:t>
            </a:r>
          </a:p>
          <a:p>
            <a:endParaRPr dirty="0"/>
          </a:p>
          <a:p>
            <a:pPr marL="171450" indent="-171450">
              <a:buFont typeface="Arial" panose="020B0604020202020204" pitchFamily="34" charset="0"/>
              <a:buChar char="•"/>
            </a:pPr>
            <a:r>
              <a:rPr dirty="0"/>
              <a:t>First-attempt success from eighty-six to eighty-eight per cent up to ninety-three or better.</a:t>
            </a:r>
            <a:endParaRPr lang="en-US" dirty="0"/>
          </a:p>
          <a:p>
            <a:pPr marL="171450" indent="-171450">
              <a:buFont typeface="Arial" panose="020B0604020202020204" pitchFamily="34" charset="0"/>
              <a:buChar char="•"/>
            </a:pPr>
            <a:r>
              <a:rPr dirty="0"/>
              <a:t>The plan locked forty-five minutes before departure instead of still being adjusted at the slot.</a:t>
            </a:r>
            <a:endParaRPr lang="en-US" dirty="0"/>
          </a:p>
          <a:p>
            <a:pPr marL="171450" indent="-171450">
              <a:buFont typeface="Arial" panose="020B0604020202020204" pitchFamily="34" charset="0"/>
              <a:buChar char="•"/>
            </a:pPr>
            <a:r>
              <a:rPr lang="en-US" dirty="0"/>
              <a:t>40% </a:t>
            </a:r>
            <a:r>
              <a:rPr dirty="0"/>
              <a:t>less planner time on route building.</a:t>
            </a:r>
            <a:endParaRPr lang="en-US" dirty="0"/>
          </a:p>
          <a:p>
            <a:pPr marL="171450" indent="-171450">
              <a:buFont typeface="Arial" panose="020B0604020202020204" pitchFamily="34" charset="0"/>
              <a:buChar char="•"/>
            </a:pPr>
            <a:r>
              <a:rPr dirty="0" err="1"/>
              <a:t>Kilometres</a:t>
            </a:r>
            <a:r>
              <a:rPr dirty="0"/>
              <a:t> per delivery tracked on a like-for-like order mix.</a:t>
            </a:r>
            <a:endParaRPr lang="en-US" dirty="0"/>
          </a:p>
          <a:p>
            <a:pPr marL="171450" indent="-171450">
              <a:buFont typeface="Arial" panose="020B0604020202020204" pitchFamily="34" charset="0"/>
              <a:buChar char="•"/>
            </a:pPr>
            <a:r>
              <a:rPr dirty="0"/>
              <a:t>"Where is my parcel" answered at first line.</a:t>
            </a:r>
            <a:endParaRPr lang="en-US" dirty="0"/>
          </a:p>
          <a:p>
            <a:pPr marL="171450" indent="-171450">
              <a:buFont typeface="Arial" panose="020B0604020202020204" pitchFamily="34" charset="0"/>
              <a:buChar char="•"/>
            </a:pPr>
            <a:r>
              <a:rPr dirty="0"/>
              <a:t>And zero SLA penalty incidents in the pilot zone.</a:t>
            </a:r>
          </a:p>
          <a:p>
            <a:endParaRPr dirty="0"/>
          </a:p>
          <a:p>
            <a:r>
              <a:rPr dirty="0"/>
              <a:t>The last one on your list was the workload of the traffic team, and that is the third row. You said if they spend less time fixing routes and calling drivers all day, that would be a very good sign. I agree, and I would measure it.</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how would we actually start?</a:t>
            </a:r>
            <a:endParaRPr dirty="0"/>
          </a:p>
          <a:p>
            <a:endParaRPr dirty="0"/>
          </a:p>
          <a:p>
            <a:r>
              <a:rPr dirty="0"/>
              <a:t>Likely question — "why ninety-three and not ninety-five?"</a:t>
            </a:r>
          </a:p>
          <a:p>
            <a:r>
              <a:rPr dirty="0"/>
              <a:t>Answer: </a:t>
            </a:r>
            <a:r>
              <a:rPr lang="en-US" dirty="0"/>
              <a:t>93%</a:t>
            </a:r>
            <a:r>
              <a:rPr dirty="0"/>
              <a:t> is a stretch I believe I can defend from the data. </a:t>
            </a:r>
            <a:r>
              <a:rPr lang="en-US" dirty="0"/>
              <a:t>95%</a:t>
            </a:r>
            <a:r>
              <a:rPr dirty="0"/>
              <a:t> would be a number I picked because it sounded better.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Eight weeks, one zone, and nothing stops.</a:t>
            </a:r>
          </a:p>
          <a:p>
            <a:endParaRPr dirty="0"/>
          </a:p>
          <a:p>
            <a:pPr marL="171450" indent="-171450">
              <a:buFont typeface="Arial" panose="020B0604020202020204" pitchFamily="34" charset="0"/>
              <a:buChar char="•"/>
            </a:pPr>
            <a:r>
              <a:rPr dirty="0"/>
              <a:t>Weeks one and two are a baseline, not a build. Read-only access to twenty-four months of orders, addresses and proof of delivery, and we measure the pilot zone exactly as it runs today.</a:t>
            </a:r>
          </a:p>
          <a:p>
            <a:endParaRPr dirty="0"/>
          </a:p>
          <a:p>
            <a:pPr marL="171450" indent="-171450">
              <a:buFont typeface="Arial" panose="020B0604020202020204" pitchFamily="34" charset="0"/>
              <a:buChar char="•"/>
            </a:pPr>
            <a:r>
              <a:rPr dirty="0"/>
              <a:t>Weeks three and four are shadow. The system proposes routes and windows; your planners work exactly as they do now. We compare the two side by side, daily. If the proposals are worse than your planners, you find that out before anything is live.</a:t>
            </a:r>
          </a:p>
          <a:p>
            <a:endParaRPr dirty="0"/>
          </a:p>
          <a:p>
            <a:pPr marL="171450" indent="-171450">
              <a:buFont typeface="Arial" panose="020B0604020202020204" pitchFamily="34" charset="0"/>
              <a:buChar char="•"/>
            </a:pPr>
            <a:r>
              <a:rPr dirty="0"/>
              <a:t>Weeks five to seven go live in one zone, with the planner keeping the override throughout.</a:t>
            </a:r>
          </a:p>
          <a:p>
            <a:endParaRPr dirty="0"/>
          </a:p>
          <a:p>
            <a:pPr marL="171450" indent="-171450">
              <a:buFont typeface="Arial" panose="020B0604020202020204" pitchFamily="34" charset="0"/>
              <a:buChar char="•"/>
            </a:pPr>
            <a:r>
              <a:rPr dirty="0"/>
              <a:t>Week eight is a decision — the measured result, the cost to extend, and an honest recommendation to stop, adjust or scale.</a:t>
            </a:r>
          </a:p>
          <a:p>
            <a:endParaRPr dirty="0"/>
          </a:p>
          <a:p>
            <a:r>
              <a:rPr dirty="0"/>
              <a:t>And on the zone: I want your worst residential zone, not your easiest. A result in a hard zone is a result you can trust everywhere else.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Five ways this fails, and what stops each one.</a:t>
            </a:r>
          </a:p>
          <a:p>
            <a:endParaRPr dirty="0"/>
          </a:p>
          <a:p>
            <a:pPr marL="171450" indent="-171450">
              <a:buFont typeface="Arial" panose="020B0604020202020204" pitchFamily="34" charset="0"/>
              <a:buChar char="•"/>
            </a:pPr>
            <a:r>
              <a:rPr dirty="0"/>
              <a:t>If the address and timestamp history is dirtier than expected — that is what Weeks one and two are for. If the data will not support a window prediction, I will say so and the scope narrows to dispatch. I would rather tell you in week two than in month six.</a:t>
            </a:r>
          </a:p>
          <a:p>
            <a:pPr marL="171450" indent="-171450">
              <a:buFont typeface="Arial" panose="020B0604020202020204" pitchFamily="34" charset="0"/>
              <a:buChar char="•"/>
            </a:pPr>
            <a:endParaRPr dirty="0"/>
          </a:p>
          <a:p>
            <a:pPr marL="171450" indent="-171450">
              <a:buFont typeface="Arial" panose="020B0604020202020204" pitchFamily="34" charset="0"/>
              <a:buChar char="•"/>
            </a:pPr>
            <a:r>
              <a:rPr dirty="0"/>
              <a:t>If drivers read this as monitoring — five events, no continuous tracking, no scoring, and drivers see the same screen the office sees. That message has to come from you, not from me.</a:t>
            </a:r>
          </a:p>
          <a:p>
            <a:pPr marL="171450" indent="-171450">
              <a:buFont typeface="Arial" panose="020B0604020202020204" pitchFamily="34" charset="0"/>
              <a:buChar char="•"/>
            </a:pPr>
            <a:endParaRPr dirty="0"/>
          </a:p>
          <a:p>
            <a:pPr marL="171450" indent="-171450">
              <a:buFont typeface="Arial" panose="020B0604020202020204" pitchFamily="34" charset="0"/>
              <a:buChar char="•"/>
            </a:pPr>
            <a:r>
              <a:rPr dirty="0"/>
              <a:t>If the legacy ERP will not integrate — we read the scheduled exports your team already produces, and there is no write-back during the pilot.</a:t>
            </a:r>
          </a:p>
          <a:p>
            <a:pPr marL="171450" indent="-171450">
              <a:buFont typeface="Arial" panose="020B0604020202020204" pitchFamily="34" charset="0"/>
              <a:buChar char="•"/>
            </a:pPr>
            <a:endParaRPr dirty="0"/>
          </a:p>
          <a:p>
            <a:pPr marL="171450" indent="-171450">
              <a:buFont typeface="Arial" panose="020B0604020202020204" pitchFamily="34" charset="0"/>
              <a:buChar char="•"/>
            </a:pPr>
            <a:r>
              <a:rPr dirty="0"/>
              <a:t>If peak season collides — the eight weeks sit clear of Black Friday and Christmas, and if the start slips it slips to January.</a:t>
            </a:r>
          </a:p>
          <a:p>
            <a:pPr marL="171450" indent="-171450">
              <a:buFont typeface="Arial" panose="020B0604020202020204" pitchFamily="34" charset="0"/>
              <a:buChar char="•"/>
            </a:pPr>
            <a:endParaRPr dirty="0"/>
          </a:p>
          <a:p>
            <a:pPr marL="171450" indent="-171450">
              <a:buFont typeface="Arial" panose="020B0604020202020204" pitchFamily="34" charset="0"/>
              <a:buChar char="•"/>
            </a:pPr>
            <a:r>
              <a:rPr dirty="0"/>
              <a:t>And if it works in one zone but nowhere else — that is why the pilot zone is your hardest, not your easiest.</a:t>
            </a:r>
          </a:p>
          <a:p>
            <a:endParaRPr dirty="0"/>
          </a:p>
          <a:p>
            <a:r>
              <a:rPr dirty="0"/>
              <a:t>On training: you flagged uneven comfort with new systems. The driver-side change is five buttons on a screen they already carry. Deliberately small.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Three decisions, and none of them are technical.</a:t>
            </a:r>
          </a:p>
          <a:p>
            <a:endParaRPr dirty="0"/>
          </a:p>
          <a:p>
            <a:pPr marL="171450" indent="-171450">
              <a:buFont typeface="Arial" panose="020B0604020202020204" pitchFamily="34" charset="0"/>
              <a:buChar char="•"/>
            </a:pPr>
            <a:r>
              <a:rPr dirty="0"/>
              <a:t>Name the pilot zone. I would recommend the residential zone with the worst first-attempt rate.</a:t>
            </a:r>
          </a:p>
          <a:p>
            <a:pPr marL="171450" indent="-171450">
              <a:buFont typeface="Arial" panose="020B0604020202020204" pitchFamily="34" charset="0"/>
              <a:buChar char="•"/>
            </a:pPr>
            <a:endParaRPr dirty="0"/>
          </a:p>
          <a:p>
            <a:pPr marL="171450" indent="-171450">
              <a:buFont typeface="Arial" panose="020B0604020202020204" pitchFamily="34" charset="0"/>
              <a:buChar char="•"/>
            </a:pPr>
            <a:r>
              <a:rPr dirty="0"/>
              <a:t>Nominate one traffic planner as the owner — two hours a week for eight weeks. Not a project manager, a planner. Someone who actually builds the routes.</a:t>
            </a:r>
          </a:p>
          <a:p>
            <a:pPr marL="171450" indent="-171450">
              <a:buFont typeface="Arial" panose="020B0604020202020204" pitchFamily="34" charset="0"/>
              <a:buChar char="•"/>
            </a:pPr>
            <a:endParaRPr dirty="0"/>
          </a:p>
          <a:p>
            <a:pPr marL="171450" indent="-171450">
              <a:buFont typeface="Arial" panose="020B0604020202020204" pitchFamily="34" charset="0"/>
              <a:buChar char="•"/>
            </a:pPr>
            <a:r>
              <a:rPr dirty="0"/>
              <a:t>And approve read-only access to twenty-four months of orders, addresses and proof of delivery. No production write access at any point.</a:t>
            </a:r>
            <a:endParaRPr lang="en-US" dirty="0"/>
          </a:p>
          <a:p>
            <a:endParaRPr lang="en-US" dirty="0"/>
          </a:p>
          <a:p>
            <a:r>
              <a:rPr lang="en-US" sz="1200" b="0" i="0" kern="1200" dirty="0">
                <a:solidFill>
                  <a:schemeClr val="tx1"/>
                </a:solidFill>
                <a:effectLst/>
                <a:latin typeface="+mn-lt"/>
                <a:ea typeface="+mn-ea"/>
                <a:cs typeface="+mn-cs"/>
              </a:rPr>
              <a:t>You'll notice there's no price on this slide. That's deliberate — today I'm asking for two hours a week and read-only access. The number comes at week eight, against a measured result.</a:t>
            </a:r>
            <a:endParaRPr dirty="0"/>
          </a:p>
          <a:p>
            <a:endParaRPr dirty="0"/>
          </a:p>
          <a:p>
            <a:r>
              <a:rPr dirty="0"/>
              <a:t>[Pause.]</a:t>
            </a:r>
          </a:p>
          <a:p>
            <a:endParaRPr dirty="0"/>
          </a:p>
          <a:p>
            <a:pPr marL="171450" indent="-171450">
              <a:buFont typeface="Arial" panose="020B0604020202020204" pitchFamily="34" charset="0"/>
              <a:buChar char="•"/>
            </a:pPr>
            <a:r>
              <a:rPr dirty="0"/>
              <a:t>I would like a decision by the end of next week so the eight weeks finish clear of peak season.</a:t>
            </a:r>
          </a:p>
          <a:p>
            <a:endParaRPr dirty="0"/>
          </a:p>
          <a:p>
            <a:r>
              <a:rPr dirty="0"/>
              <a:t>And if the answer is no: the baseline measurement from weeks one and two is still yours to keep. You would know your real first-attempt rate by zone, which as far as I can tell you do not have today.</a:t>
            </a:r>
          </a:p>
          <a:p>
            <a:endParaRPr dirty="0"/>
          </a:p>
          <a:p>
            <a:r>
              <a:rPr dirty="0"/>
              <a:t>[Stop. Let them respond.]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2B"/>
        </a:solidFill>
        <a:effectLst/>
      </p:bgPr>
    </p:bg>
    <p:spTree>
      <p:nvGrpSpPr>
        <p:cNvPr id="1" name=""/>
        <p:cNvGrpSpPr/>
        <p:nvPr/>
      </p:nvGrpSpPr>
      <p:grpSpPr>
        <a:xfrm>
          <a:off x="0" y="0"/>
          <a:ext cx="0" cy="0"/>
          <a:chOff x="0" y="0"/>
          <a:chExt cx="0" cy="0"/>
        </a:xfrm>
      </p:grpSpPr>
      <p:sp>
        <p:nvSpPr>
          <p:cNvPr id="2" name="Shape 0"/>
          <p:cNvSpPr/>
          <p:nvPr/>
        </p:nvSpPr>
        <p:spPr>
          <a:xfrm rot="2700000">
            <a:off x="9902952" y="-1005840"/>
            <a:ext cx="2011680" cy="2011680"/>
          </a:xfrm>
          <a:prstGeom prst="rect">
            <a:avLst/>
          </a:prstGeom>
          <a:ln w="12700">
            <a:solidFill>
              <a:srgbClr val="2E5C72"/>
            </a:solidFill>
            <a:prstDash val="solid"/>
          </a:ln>
        </p:spPr>
        <p:txBody>
          <a:bodyPr/>
          <a:lstStyle/>
          <a:p>
            <a:endParaRPr lang="en-US"/>
          </a:p>
        </p:txBody>
      </p:sp>
      <p:sp>
        <p:nvSpPr>
          <p:cNvPr id="3" name="Shape 1"/>
          <p:cNvSpPr/>
          <p:nvPr/>
        </p:nvSpPr>
        <p:spPr>
          <a:xfrm rot="2700000">
            <a:off x="10451592" y="-457200"/>
            <a:ext cx="914400" cy="914400"/>
          </a:xfrm>
          <a:prstGeom prst="rect">
            <a:avLst/>
          </a:prstGeom>
          <a:solidFill>
            <a:srgbClr val="D97706">
              <a:alpha val="22000"/>
            </a:srgbClr>
          </a:solidFill>
          <a:ln/>
        </p:spPr>
        <p:txBody>
          <a:bodyPr/>
          <a:lstStyle/>
          <a:p>
            <a:endParaRPr lang="en-US"/>
          </a:p>
        </p:txBody>
      </p:sp>
      <p:sp>
        <p:nvSpPr>
          <p:cNvPr id="4" name="Text 2"/>
          <p:cNvSpPr/>
          <p:nvPr/>
        </p:nvSpPr>
        <p:spPr>
          <a:xfrm>
            <a:off x="566928" y="1874520"/>
            <a:ext cx="11055096" cy="365760"/>
          </a:xfrm>
          <a:prstGeom prst="rect">
            <a:avLst/>
          </a:prstGeom>
          <a:noFill/>
          <a:ln/>
        </p:spPr>
        <p:txBody>
          <a:bodyPr wrap="square" lIns="0" tIns="0" rIns="0" bIns="0" rtlCol="0" anchor="ctr"/>
          <a:lstStyle/>
          <a:p>
            <a:pPr marL="0" indent="0">
              <a:buNone/>
            </a:pPr>
            <a:r>
              <a:rPr lang="en-US" sz="1300" b="1" kern="0" spc="400" dirty="0">
                <a:solidFill>
                  <a:srgbClr val="D97706"/>
                </a:solidFill>
                <a:latin typeface="Calibri" pitchFamily="34" charset="0"/>
                <a:ea typeface="Calibri" pitchFamily="34" charset="-122"/>
                <a:cs typeface="Calibri" pitchFamily="34" charset="-120"/>
              </a:rPr>
              <a:t>SILVERTRUST   ·   AI CONSULTING ENGAGEMENT</a:t>
            </a:r>
            <a:endParaRPr lang="en-US" sz="1300" dirty="0"/>
          </a:p>
        </p:txBody>
      </p:sp>
      <p:sp>
        <p:nvSpPr>
          <p:cNvPr id="5" name="Text 3"/>
          <p:cNvSpPr/>
          <p:nvPr/>
        </p:nvSpPr>
        <p:spPr>
          <a:xfrm>
            <a:off x="566928" y="2212848"/>
            <a:ext cx="11055096" cy="1481328"/>
          </a:xfrm>
          <a:prstGeom prst="rect">
            <a:avLst/>
          </a:prstGeom>
          <a:noFill/>
          <a:ln/>
        </p:spPr>
        <p:txBody>
          <a:bodyPr wrap="square" lIns="0" tIns="0" rIns="0" bIns="0" rtlCol="0" anchor="t"/>
          <a:lstStyle/>
          <a:p>
            <a:pPr marL="0" indent="0">
              <a:buNone/>
            </a:pPr>
            <a:r>
              <a:rPr lang="en-US" sz="4800" b="1" dirty="0">
                <a:solidFill>
                  <a:srgbClr val="FFFFFF"/>
                </a:solidFill>
                <a:latin typeface="Georgia" pitchFamily="34" charset="0"/>
                <a:ea typeface="Georgia" pitchFamily="34" charset="-122"/>
                <a:cs typeface="Georgia" pitchFamily="34" charset="-120"/>
              </a:rPr>
              <a:t>Out of the spreadsheet,</a:t>
            </a:r>
            <a:endParaRPr lang="en-US" sz="4800" dirty="0"/>
          </a:p>
          <a:p>
            <a:pPr marL="0" indent="0">
              <a:buNone/>
            </a:pPr>
            <a:r>
              <a:rPr lang="en-US" sz="4800" b="1" dirty="0">
                <a:solidFill>
                  <a:srgbClr val="FFFFFF"/>
                </a:solidFill>
                <a:latin typeface="Georgia" pitchFamily="34" charset="0"/>
                <a:ea typeface="Georgia" pitchFamily="34" charset="-122"/>
                <a:cs typeface="Georgia" pitchFamily="34" charset="-120"/>
              </a:rPr>
              <a:t>back on the map</a:t>
            </a:r>
            <a:endParaRPr lang="en-US" sz="4800" dirty="0"/>
          </a:p>
        </p:txBody>
      </p:sp>
      <p:sp>
        <p:nvSpPr>
          <p:cNvPr id="6" name="Text 4"/>
          <p:cNvSpPr/>
          <p:nvPr/>
        </p:nvSpPr>
        <p:spPr>
          <a:xfrm>
            <a:off x="566928" y="3767328"/>
            <a:ext cx="11055096" cy="457200"/>
          </a:xfrm>
          <a:prstGeom prst="rect">
            <a:avLst/>
          </a:prstGeom>
          <a:noFill/>
          <a:ln/>
        </p:spPr>
        <p:txBody>
          <a:bodyPr wrap="square" lIns="0" tIns="0" rIns="0" bIns="0" rtlCol="0" anchor="ctr"/>
          <a:lstStyle/>
          <a:p>
            <a:pPr marL="0" indent="0">
              <a:buNone/>
            </a:pPr>
            <a:r>
              <a:rPr lang="en-US" sz="1900" i="1" dirty="0">
                <a:solidFill>
                  <a:srgbClr val="CFE0E7"/>
                </a:solidFill>
                <a:latin typeface="Georgia" pitchFamily="34" charset="0"/>
                <a:ea typeface="Georgia" pitchFamily="34" charset="-122"/>
                <a:cs typeface="Georgia" pitchFamily="34" charset="-120"/>
              </a:rPr>
              <a:t>Making the Madrid delivery day plannable and visible — without adding vans</a:t>
            </a:r>
            <a:endParaRPr lang="en-US" sz="1900" dirty="0"/>
          </a:p>
        </p:txBody>
      </p:sp>
      <p:sp>
        <p:nvSpPr>
          <p:cNvPr id="7" name="Shape 5"/>
          <p:cNvSpPr/>
          <p:nvPr/>
        </p:nvSpPr>
        <p:spPr>
          <a:xfrm>
            <a:off x="566928" y="4498848"/>
            <a:ext cx="2743200" cy="0"/>
          </a:xfrm>
          <a:prstGeom prst="line">
            <a:avLst/>
          </a:prstGeom>
          <a:noFill/>
          <a:ln w="19050">
            <a:solidFill>
              <a:srgbClr val="D97706"/>
            </a:solidFill>
            <a:prstDash val="solid"/>
          </a:ln>
        </p:spPr>
        <p:txBody>
          <a:bodyPr/>
          <a:lstStyle/>
          <a:p>
            <a:endParaRPr lang="en-US"/>
          </a:p>
        </p:txBody>
      </p:sp>
      <p:sp>
        <p:nvSpPr>
          <p:cNvPr id="8" name="Text 6"/>
          <p:cNvSpPr/>
          <p:nvPr/>
        </p:nvSpPr>
        <p:spPr>
          <a:xfrm>
            <a:off x="566928" y="4681728"/>
            <a:ext cx="11055096" cy="73152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Prepared for IberiaNex Logistics S.A. — Coslada, Madrid</a:t>
            </a:r>
            <a:endParaRPr lang="en-US" sz="1200" dirty="0"/>
          </a:p>
          <a:p>
            <a:pPr marL="0" indent="0">
              <a:buNone/>
            </a:pPr>
            <a:r>
              <a:rPr lang="en-US" sz="1100" dirty="0">
                <a:solidFill>
                  <a:srgbClr val="6B7C86"/>
                </a:solidFill>
                <a:latin typeface="Calibri" pitchFamily="34" charset="0"/>
                <a:ea typeface="Calibri" pitchFamily="34" charset="-122"/>
                <a:cs typeface="Calibri" pitchFamily="34" charset="-120"/>
              </a:rPr>
              <a:t>Ugo Ahukannah  ·  SilverTrust  ·  26 August 2026</a:t>
            </a:r>
            <a:endParaRPr lang="en-US" sz="1200" dirty="0"/>
          </a:p>
          <a:p>
            <a:pPr marL="0" indent="0">
              <a:buNone/>
            </a:pPr>
            <a:r>
              <a:rPr lang="en-US" sz="1100" dirty="0">
                <a:solidFill>
                  <a:srgbClr val="6B7C86"/>
                </a:solidFill>
                <a:latin typeface="Calibri" pitchFamily="34" charset="0"/>
                <a:ea typeface="Calibri" pitchFamily="34" charset="-122"/>
                <a:cs typeface="Calibri" pitchFamily="34" charset="-120"/>
              </a:rPr>
              <a:t>Grounded in the discovery session with Gretel, Operations</a:t>
            </a:r>
            <a:endParaRPr lang="en-US" sz="1200" dirty="0"/>
          </a:p>
        </p:txBody>
      </p:sp>
      <p:sp>
        <p:nvSpPr>
          <p:cNvPr id="9" name="Text 7"/>
          <p:cNvSpPr/>
          <p:nvPr/>
        </p:nvSpPr>
        <p:spPr>
          <a:xfrm>
            <a:off x="566928" y="6355080"/>
            <a:ext cx="11055096" cy="274320"/>
          </a:xfrm>
          <a:prstGeom prst="rect">
            <a:avLst/>
          </a:prstGeom>
          <a:noFill/>
          <a:ln/>
        </p:spPr>
        <p:txBody>
          <a:bodyPr wrap="square" lIns="0" tIns="0" rIns="0" bIns="0" rtlCol="0" anchor="ctr"/>
          <a:lstStyle/>
          <a:p>
            <a:pPr marL="0" indent="0">
              <a:buNone/>
            </a:pPr>
            <a:r>
              <a:rPr lang="en-US" sz="900" dirty="0">
                <a:solidFill>
                  <a:srgbClr val="6B7C86"/>
                </a:solidFill>
                <a:latin typeface="Calibri" pitchFamily="34" charset="0"/>
                <a:ea typeface="Calibri" pitchFamily="34" charset="-122"/>
                <a:cs typeface="Calibri" pitchFamily="34" charset="-120"/>
              </a:rPr>
              <a:t>What we heard    The problem    Three changes    Eight-week pilot    v1.0    </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The operation we are advising</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One hub, two flows — and the e-commerce promise is the hardest part of the day.</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1</a:t>
            </a:r>
            <a:endParaRPr lang="en-US" sz="850" dirty="0"/>
          </a:p>
        </p:txBody>
      </p:sp>
      <p:sp>
        <p:nvSpPr>
          <p:cNvPr id="12" name="Text 9"/>
          <p:cNvSpPr/>
          <p:nvPr/>
        </p:nvSpPr>
        <p:spPr>
          <a:xfrm>
            <a:off x="566928" y="2395728"/>
            <a:ext cx="1828800" cy="237744"/>
          </a:xfrm>
          <a:prstGeom prst="rect">
            <a:avLst/>
          </a:prstGeom>
          <a:noFill/>
          <a:ln/>
        </p:spPr>
        <p:txBody>
          <a:bodyPr wrap="square" lIns="0" tIns="0" rIns="0" bIns="0" rtlCol="0" anchor="ctr"/>
          <a:lstStyle/>
          <a:p>
            <a:pPr marL="0" indent="0">
              <a:buNone/>
            </a:pPr>
            <a:r>
              <a:rPr lang="en-US" sz="850" b="1" kern="0" spc="120" dirty="0">
                <a:solidFill>
                  <a:srgbClr val="6B7C86"/>
                </a:solidFill>
                <a:latin typeface="Calibri" pitchFamily="34" charset="0"/>
                <a:ea typeface="Calibri" pitchFamily="34" charset="-122"/>
                <a:cs typeface="Calibri" pitchFamily="34" charset="-120"/>
              </a:rPr>
              <a:t>PALLET FREIGHT IN</a:t>
            </a:r>
            <a:endParaRPr lang="en-US" sz="850" dirty="0"/>
          </a:p>
        </p:txBody>
      </p:sp>
      <p:sp>
        <p:nvSpPr>
          <p:cNvPr id="13" name="Text 10"/>
          <p:cNvSpPr/>
          <p:nvPr/>
        </p:nvSpPr>
        <p:spPr>
          <a:xfrm>
            <a:off x="4754880" y="2395728"/>
            <a:ext cx="2194560" cy="237744"/>
          </a:xfrm>
          <a:prstGeom prst="rect">
            <a:avLst/>
          </a:prstGeom>
          <a:noFill/>
          <a:ln/>
        </p:spPr>
        <p:txBody>
          <a:bodyPr wrap="square" lIns="0" tIns="0" rIns="0" bIns="0" rtlCol="0" anchor="ctr"/>
          <a:lstStyle/>
          <a:p>
            <a:pPr marL="0" indent="0">
              <a:buNone/>
            </a:pPr>
            <a:r>
              <a:rPr lang="en-US" sz="850" b="1" kern="0" spc="120" dirty="0">
                <a:solidFill>
                  <a:srgbClr val="6B7C86"/>
                </a:solidFill>
                <a:latin typeface="Calibri" pitchFamily="34" charset="0"/>
                <a:ea typeface="Calibri" pitchFamily="34" charset="-122"/>
                <a:cs typeface="Calibri" pitchFamily="34" charset="-120"/>
              </a:rPr>
              <a:t>LAST MILE OUT</a:t>
            </a:r>
            <a:endParaRPr lang="en-US" sz="850" dirty="0"/>
          </a:p>
        </p:txBody>
      </p:sp>
      <p:sp>
        <p:nvSpPr>
          <p:cNvPr id="14" name="Shape 11"/>
          <p:cNvSpPr/>
          <p:nvPr/>
        </p:nvSpPr>
        <p:spPr>
          <a:xfrm>
            <a:off x="566928" y="2724912"/>
            <a:ext cx="1280160" cy="530352"/>
          </a:xfrm>
          <a:prstGeom prst="roundRect">
            <a:avLst>
              <a:gd name="adj" fmla="val 10345"/>
            </a:avLst>
          </a:prstGeom>
          <a:solidFill>
            <a:srgbClr val="FFFFFF"/>
          </a:solidFill>
          <a:ln w="12700">
            <a:solidFill>
              <a:srgbClr val="D6E2E8"/>
            </a:solidFill>
            <a:prstDash val="solid"/>
          </a:ln>
        </p:spPr>
        <p:txBody>
          <a:bodyPr/>
          <a:lstStyle/>
          <a:p>
            <a:endParaRPr lang="en-US"/>
          </a:p>
        </p:txBody>
      </p:sp>
      <p:sp>
        <p:nvSpPr>
          <p:cNvPr id="15" name="Text 12"/>
          <p:cNvSpPr/>
          <p:nvPr/>
        </p:nvSpPr>
        <p:spPr>
          <a:xfrm>
            <a:off x="621792" y="2724912"/>
            <a:ext cx="1170432" cy="530352"/>
          </a:xfrm>
          <a:prstGeom prst="rect">
            <a:avLst/>
          </a:prstGeom>
          <a:noFill/>
          <a:ln/>
        </p:spPr>
        <p:txBody>
          <a:bodyPr wrap="square" lIns="0" tIns="0" rIns="0" bIns="0" rtlCol="0" anchor="ctr"/>
          <a:lstStyle/>
          <a:p>
            <a:pPr marL="0" indent="0" algn="ctr">
              <a:buNone/>
            </a:pPr>
            <a:r>
              <a:rPr lang="en-US" sz="1200" b="1" dirty="0">
                <a:solidFill>
                  <a:srgbClr val="16232B"/>
                </a:solidFill>
                <a:latin typeface="Calibri" pitchFamily="34" charset="0"/>
                <a:ea typeface="Calibri" pitchFamily="34" charset="-122"/>
                <a:cs typeface="Calibri" pitchFamily="34" charset="-120"/>
              </a:rPr>
              <a:t>Valencia</a:t>
            </a:r>
            <a:endParaRPr lang="en-US" sz="1200" dirty="0"/>
          </a:p>
        </p:txBody>
      </p:sp>
      <p:sp>
        <p:nvSpPr>
          <p:cNvPr id="16" name="Shape 13"/>
          <p:cNvSpPr/>
          <p:nvPr/>
        </p:nvSpPr>
        <p:spPr>
          <a:xfrm>
            <a:off x="566928" y="3456432"/>
            <a:ext cx="1280160" cy="530352"/>
          </a:xfrm>
          <a:prstGeom prst="roundRect">
            <a:avLst>
              <a:gd name="adj" fmla="val 10345"/>
            </a:avLst>
          </a:prstGeom>
          <a:solidFill>
            <a:srgbClr val="FFFFFF"/>
          </a:solidFill>
          <a:ln w="12700">
            <a:solidFill>
              <a:srgbClr val="D6E2E8"/>
            </a:solidFill>
            <a:prstDash val="solid"/>
          </a:ln>
        </p:spPr>
        <p:txBody>
          <a:bodyPr/>
          <a:lstStyle/>
          <a:p>
            <a:endParaRPr lang="en-US"/>
          </a:p>
        </p:txBody>
      </p:sp>
      <p:sp>
        <p:nvSpPr>
          <p:cNvPr id="17" name="Text 14"/>
          <p:cNvSpPr/>
          <p:nvPr/>
        </p:nvSpPr>
        <p:spPr>
          <a:xfrm>
            <a:off x="621792" y="3456432"/>
            <a:ext cx="1170432" cy="530352"/>
          </a:xfrm>
          <a:prstGeom prst="rect">
            <a:avLst/>
          </a:prstGeom>
          <a:noFill/>
          <a:ln/>
        </p:spPr>
        <p:txBody>
          <a:bodyPr wrap="square" lIns="0" tIns="0" rIns="0" bIns="0" rtlCol="0" anchor="ctr"/>
          <a:lstStyle/>
          <a:p>
            <a:pPr marL="0" indent="0" algn="ctr">
              <a:buNone/>
            </a:pPr>
            <a:r>
              <a:rPr lang="en-US" sz="1200" b="1" dirty="0">
                <a:solidFill>
                  <a:srgbClr val="16232B"/>
                </a:solidFill>
                <a:latin typeface="Calibri" pitchFamily="34" charset="0"/>
                <a:ea typeface="Calibri" pitchFamily="34" charset="-122"/>
                <a:cs typeface="Calibri" pitchFamily="34" charset="-120"/>
              </a:rPr>
              <a:t>Catalonia</a:t>
            </a:r>
            <a:endParaRPr lang="en-US" sz="1200" dirty="0"/>
          </a:p>
        </p:txBody>
      </p:sp>
      <p:sp>
        <p:nvSpPr>
          <p:cNvPr id="18" name="Shape 15"/>
          <p:cNvSpPr/>
          <p:nvPr/>
        </p:nvSpPr>
        <p:spPr>
          <a:xfrm>
            <a:off x="1920240" y="2862072"/>
            <a:ext cx="384048" cy="274320"/>
          </a:xfrm>
          <a:prstGeom prst="rightArrow">
            <a:avLst/>
          </a:prstGeom>
          <a:solidFill>
            <a:srgbClr val="CFE0E7"/>
          </a:solidFill>
          <a:ln/>
        </p:spPr>
        <p:txBody>
          <a:bodyPr/>
          <a:lstStyle/>
          <a:p>
            <a:endParaRPr lang="en-US"/>
          </a:p>
        </p:txBody>
      </p:sp>
      <p:sp>
        <p:nvSpPr>
          <p:cNvPr id="19" name="Shape 16"/>
          <p:cNvSpPr/>
          <p:nvPr/>
        </p:nvSpPr>
        <p:spPr>
          <a:xfrm>
            <a:off x="1920240" y="3593592"/>
            <a:ext cx="384048" cy="274320"/>
          </a:xfrm>
          <a:prstGeom prst="rightArrow">
            <a:avLst/>
          </a:prstGeom>
          <a:solidFill>
            <a:srgbClr val="CFE0E7"/>
          </a:solidFill>
          <a:ln/>
        </p:spPr>
        <p:txBody>
          <a:bodyPr/>
          <a:lstStyle/>
          <a:p>
            <a:endParaRPr lang="en-US"/>
          </a:p>
        </p:txBody>
      </p:sp>
      <p:sp>
        <p:nvSpPr>
          <p:cNvPr id="20" name="Shape 17"/>
          <p:cNvSpPr/>
          <p:nvPr/>
        </p:nvSpPr>
        <p:spPr>
          <a:xfrm>
            <a:off x="2395728" y="2670048"/>
            <a:ext cx="1828800" cy="1371600"/>
          </a:xfrm>
          <a:prstGeom prst="roundRect">
            <a:avLst>
              <a:gd name="adj" fmla="val 4000"/>
            </a:avLst>
          </a:prstGeom>
          <a:solidFill>
            <a:srgbClr val="17384A"/>
          </a:solidFill>
          <a:ln w="12700">
            <a:solidFill>
              <a:srgbClr val="17384A"/>
            </a:solidFill>
            <a:prstDash val="solid"/>
          </a:ln>
        </p:spPr>
        <p:txBody>
          <a:bodyPr/>
          <a:lstStyle/>
          <a:p>
            <a:endParaRPr lang="en-US"/>
          </a:p>
        </p:txBody>
      </p:sp>
      <p:sp>
        <p:nvSpPr>
          <p:cNvPr id="21" name="Text 18"/>
          <p:cNvSpPr/>
          <p:nvPr/>
        </p:nvSpPr>
        <p:spPr>
          <a:xfrm>
            <a:off x="2450592" y="2670048"/>
            <a:ext cx="1719072" cy="13716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COSLADA HUB</a:t>
            </a:r>
            <a:endParaRPr lang="en-US" sz="1200" dirty="0"/>
          </a:p>
          <a:p>
            <a:pPr marL="0" indent="0" algn="ctr">
              <a:buNone/>
            </a:pPr>
            <a:r>
              <a:rPr lang="en-US" sz="900" dirty="0">
                <a:solidFill>
                  <a:srgbClr val="CFE0E7"/>
                </a:solidFill>
                <a:latin typeface="Calibri" pitchFamily="34" charset="0"/>
                <a:ea typeface="Calibri" pitchFamily="34" charset="-122"/>
                <a:cs typeface="Calibri" pitchFamily="34" charset="-120"/>
              </a:rPr>
              <a:t>Madrid</a:t>
            </a:r>
            <a:endParaRPr lang="en-US" sz="1200" dirty="0"/>
          </a:p>
        </p:txBody>
      </p:sp>
      <p:sp>
        <p:nvSpPr>
          <p:cNvPr id="22" name="Shape 19"/>
          <p:cNvSpPr/>
          <p:nvPr/>
        </p:nvSpPr>
        <p:spPr>
          <a:xfrm>
            <a:off x="4297680" y="3218688"/>
            <a:ext cx="384048" cy="274320"/>
          </a:xfrm>
          <a:prstGeom prst="rightArrow">
            <a:avLst/>
          </a:prstGeom>
          <a:solidFill>
            <a:srgbClr val="CFE0E7"/>
          </a:solidFill>
          <a:ln/>
        </p:spPr>
        <p:txBody>
          <a:bodyPr/>
          <a:lstStyle/>
          <a:p>
            <a:endParaRPr lang="en-US"/>
          </a:p>
        </p:txBody>
      </p:sp>
      <p:sp>
        <p:nvSpPr>
          <p:cNvPr id="23" name="Shape 20"/>
          <p:cNvSpPr/>
          <p:nvPr/>
        </p:nvSpPr>
        <p:spPr>
          <a:xfrm>
            <a:off x="4754880" y="2852928"/>
            <a:ext cx="2194560" cy="1005840"/>
          </a:xfrm>
          <a:prstGeom prst="roundRect">
            <a:avLst>
              <a:gd name="adj" fmla="val 5455"/>
            </a:avLst>
          </a:prstGeom>
          <a:solidFill>
            <a:srgbClr val="D97706"/>
          </a:solidFill>
          <a:ln w="12700">
            <a:solidFill>
              <a:srgbClr val="D97706"/>
            </a:solidFill>
            <a:prstDash val="solid"/>
          </a:ln>
        </p:spPr>
        <p:txBody>
          <a:bodyPr/>
          <a:lstStyle/>
          <a:p>
            <a:endParaRPr lang="en-US"/>
          </a:p>
        </p:txBody>
      </p:sp>
      <p:sp>
        <p:nvSpPr>
          <p:cNvPr id="24" name="Text 21"/>
          <p:cNvSpPr/>
          <p:nvPr/>
        </p:nvSpPr>
        <p:spPr>
          <a:xfrm>
            <a:off x="4809744" y="2852928"/>
            <a:ext cx="2084832" cy="1005840"/>
          </a:xfrm>
          <a:prstGeom prst="rect">
            <a:avLst/>
          </a:prstGeom>
          <a:noFill/>
          <a:ln/>
        </p:spPr>
        <p:txBody>
          <a:bodyPr wrap="square" lIns="0" tIns="0" rIns="0" bIns="0" rtlCol="0" anchor="ctr"/>
          <a:lstStyle/>
          <a:p>
            <a:pPr marL="0" indent="0" algn="ctr">
              <a:buNone/>
            </a:pPr>
            <a:r>
              <a:rPr lang="en-US" sz="1200" b="1" dirty="0">
                <a:solidFill>
                  <a:srgbClr val="0F1F2B"/>
                </a:solidFill>
                <a:latin typeface="Calibri" pitchFamily="34" charset="0"/>
                <a:ea typeface="Calibri" pitchFamily="34" charset="-122"/>
                <a:cs typeface="Calibri" pitchFamily="34" charset="-120"/>
              </a:rPr>
              <a:t>Madrid metro</a:t>
            </a:r>
            <a:endParaRPr lang="en-US" sz="1200" dirty="0"/>
          </a:p>
          <a:p>
            <a:pPr marL="0" indent="0" algn="ctr">
              <a:buNone/>
            </a:pPr>
            <a:r>
              <a:rPr lang="en-US" sz="900" dirty="0">
                <a:solidFill>
                  <a:srgbClr val="7A3D00"/>
                </a:solidFill>
                <a:latin typeface="Calibri" pitchFamily="34" charset="0"/>
                <a:ea typeface="Calibri" pitchFamily="34" charset="-122"/>
                <a:cs typeface="Calibri" pitchFamily="34" charset="-120"/>
              </a:rPr>
              <a:t>B2C last-mile delivery</a:t>
            </a:r>
            <a:endParaRPr lang="en-US" sz="1200" dirty="0"/>
          </a:p>
        </p:txBody>
      </p:sp>
      <p:sp>
        <p:nvSpPr>
          <p:cNvPr id="25" name="Text 22"/>
          <p:cNvSpPr/>
          <p:nvPr/>
        </p:nvSpPr>
        <p:spPr>
          <a:xfrm>
            <a:off x="566928" y="4151376"/>
            <a:ext cx="6400800" cy="256032"/>
          </a:xfrm>
          <a:prstGeom prst="rect">
            <a:avLst/>
          </a:prstGeom>
          <a:noFill/>
          <a:ln/>
        </p:spPr>
        <p:txBody>
          <a:bodyPr wrap="square" lIns="0" tIns="0" rIns="0" bIns="0" rtlCol="0" anchor="ctr"/>
          <a:lstStyle/>
          <a:p>
            <a:pPr marL="0" indent="0" algn="ctr">
              <a:buNone/>
            </a:pPr>
            <a:r>
              <a:rPr lang="en-US" sz="1000" i="1" dirty="0">
                <a:solidFill>
                  <a:srgbClr val="6B7C86"/>
                </a:solidFill>
                <a:latin typeface="Calibri" pitchFamily="34" charset="0"/>
                <a:ea typeface="Calibri" pitchFamily="34" charset="-122"/>
                <a:cs typeface="Calibri" pitchFamily="34" charset="-120"/>
              </a:rPr>
              <a:t>Own fleet, plus freelance drivers at peak</a:t>
            </a:r>
            <a:endParaRPr lang="en-US" sz="1000" dirty="0"/>
          </a:p>
        </p:txBody>
      </p:sp>
      <p:sp>
        <p:nvSpPr>
          <p:cNvPr id="26" name="Shape 23"/>
          <p:cNvSpPr/>
          <p:nvPr/>
        </p:nvSpPr>
        <p:spPr>
          <a:xfrm>
            <a:off x="7269480" y="2395728"/>
            <a:ext cx="4352544" cy="201168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27" name="Text 24"/>
          <p:cNvSpPr/>
          <p:nvPr/>
        </p:nvSpPr>
        <p:spPr>
          <a:xfrm>
            <a:off x="7470648" y="2542032"/>
            <a:ext cx="3941064" cy="310896"/>
          </a:xfrm>
          <a:prstGeom prst="rect">
            <a:avLst/>
          </a:prstGeom>
          <a:noFill/>
          <a:ln/>
        </p:spPr>
        <p:txBody>
          <a:bodyPr wrap="square" lIns="0" tIns="0" rIns="0" bIns="0" rtlCol="0" anchor="ctr"/>
          <a:lstStyle/>
          <a:p>
            <a:pPr marL="0" indent="0">
              <a:buNone/>
            </a:pPr>
            <a:r>
              <a:rPr lang="en-US" sz="1100" dirty="0">
                <a:solidFill>
                  <a:srgbClr val="D97706"/>
                </a:solidFill>
                <a:latin typeface="Calibri" pitchFamily="34" charset="0"/>
                <a:ea typeface="Calibri" pitchFamily="34" charset="-122"/>
                <a:cs typeface="Calibri" pitchFamily="34" charset="-120"/>
              </a:rPr>
              <a:t>■ </a:t>
            </a:r>
            <a:r>
              <a:rPr lang="en-US" sz="1300" b="1" dirty="0">
                <a:solidFill>
                  <a:srgbClr val="17384A"/>
                </a:solidFill>
                <a:latin typeface="Calibri" pitchFamily="34" charset="0"/>
                <a:ea typeface="Calibri" pitchFamily="34" charset="-122"/>
                <a:cs typeface="Calibri" pitchFamily="34" charset="-120"/>
              </a:rPr>
              <a:t>Who they serve, and the squeeze</a:t>
            </a:r>
            <a:endParaRPr lang="en-US" sz="1100" dirty="0"/>
          </a:p>
        </p:txBody>
      </p:sp>
      <p:sp>
        <p:nvSpPr>
          <p:cNvPr id="28" name="Text 25"/>
          <p:cNvSpPr/>
          <p:nvPr/>
        </p:nvSpPr>
        <p:spPr>
          <a:xfrm>
            <a:off x="7470648" y="2907792"/>
            <a:ext cx="3941064" cy="137160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E-commerce, B2B shippers and regular pallet contracts.</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E-commerce sets the bar: fast delivery, and precise arrival information.</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Volumes spike hard at Black Friday and Christmas.</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Margins are tight — more reliability from the same vans and people.</a:t>
            </a:r>
            <a:endParaRPr lang="en-US" sz="1050" dirty="0"/>
          </a:p>
        </p:txBody>
      </p:sp>
      <p:sp>
        <p:nvSpPr>
          <p:cNvPr id="29" name="Shape 26"/>
          <p:cNvSpPr/>
          <p:nvPr/>
        </p:nvSpPr>
        <p:spPr>
          <a:xfrm>
            <a:off x="566928" y="5065776"/>
            <a:ext cx="11055096" cy="786384"/>
          </a:xfrm>
          <a:prstGeom prst="rect">
            <a:avLst/>
          </a:prstGeom>
          <a:solidFill>
            <a:srgbClr val="EAF2F5"/>
          </a:solidFill>
          <a:ln/>
        </p:spPr>
        <p:txBody>
          <a:bodyPr/>
          <a:lstStyle/>
          <a:p>
            <a:endParaRPr lang="en-US"/>
          </a:p>
        </p:txBody>
      </p:sp>
      <p:sp>
        <p:nvSpPr>
          <p:cNvPr id="30" name="Shape 27"/>
          <p:cNvSpPr/>
          <p:nvPr/>
        </p:nvSpPr>
        <p:spPr>
          <a:xfrm>
            <a:off x="566928" y="5065776"/>
            <a:ext cx="82296" cy="786384"/>
          </a:xfrm>
          <a:prstGeom prst="rect">
            <a:avLst/>
          </a:prstGeom>
          <a:solidFill>
            <a:srgbClr val="D97706"/>
          </a:solidFill>
          <a:ln/>
        </p:spPr>
        <p:txBody>
          <a:bodyPr/>
          <a:lstStyle/>
          <a:p>
            <a:endParaRPr lang="en-US"/>
          </a:p>
        </p:txBody>
      </p:sp>
      <p:sp>
        <p:nvSpPr>
          <p:cNvPr id="31" name="Text 28"/>
          <p:cNvSpPr/>
          <p:nvPr/>
        </p:nvSpPr>
        <p:spPr>
          <a:xfrm>
            <a:off x="822960" y="5065776"/>
            <a:ext cx="10597896" cy="786384"/>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THREE CONSTRAINTS   </a:t>
            </a:r>
            <a:r>
              <a:rPr lang="en-US" sz="1200" dirty="0">
                <a:solidFill>
                  <a:srgbClr val="16232B"/>
                </a:solidFill>
                <a:latin typeface="Calibri" pitchFamily="34" charset="0"/>
                <a:ea typeface="Calibri" pitchFamily="34" charset="-122"/>
                <a:cs typeface="Calibri" pitchFamily="34" charset="-120"/>
              </a:rPr>
              <a:t>Everything that follows is shaped by an ageing ERP, a mixed diesel-and-electric fleet under Low Emission Zone rules, and an operation that cannot stop while we work.</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What we heard: the morning</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The route plan is rebuilt by hand every morning, against a departure slot it sometimes misses.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2</a:t>
            </a:r>
            <a:endParaRPr lang="en-US" sz="850" dirty="0"/>
          </a:p>
        </p:txBody>
      </p:sp>
      <p:sp>
        <p:nvSpPr>
          <p:cNvPr id="12" name="Shape 9"/>
          <p:cNvSpPr/>
          <p:nvPr/>
        </p:nvSpPr>
        <p:spPr>
          <a:xfrm>
            <a:off x="566928" y="2395728"/>
            <a:ext cx="1751076" cy="749808"/>
          </a:xfrm>
          <a:prstGeom prst="rightArrow">
            <a:avLst/>
          </a:prstGeom>
          <a:solidFill>
            <a:srgbClr val="17384A"/>
          </a:solidFill>
          <a:ln/>
        </p:spPr>
        <p:txBody>
          <a:bodyPr/>
          <a:lstStyle/>
          <a:p>
            <a:endParaRPr lang="en-US"/>
          </a:p>
        </p:txBody>
      </p:sp>
      <p:sp>
        <p:nvSpPr>
          <p:cNvPr id="13" name="Text 10"/>
          <p:cNvSpPr/>
          <p:nvPr/>
        </p:nvSpPr>
        <p:spPr>
          <a:xfrm>
            <a:off x="612648" y="2395728"/>
            <a:ext cx="1641348"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Orders land in the ERP</a:t>
            </a:r>
            <a:endParaRPr lang="en-US" sz="1050" dirty="0"/>
          </a:p>
        </p:txBody>
      </p:sp>
      <p:sp>
        <p:nvSpPr>
          <p:cNvPr id="14" name="Shape 11"/>
          <p:cNvSpPr/>
          <p:nvPr/>
        </p:nvSpPr>
        <p:spPr>
          <a:xfrm>
            <a:off x="2427732" y="2395728"/>
            <a:ext cx="1751076" cy="749808"/>
          </a:xfrm>
          <a:prstGeom prst="rightArrow">
            <a:avLst/>
          </a:prstGeom>
          <a:solidFill>
            <a:srgbClr val="17384A"/>
          </a:solidFill>
          <a:ln/>
        </p:spPr>
        <p:txBody>
          <a:bodyPr/>
          <a:lstStyle/>
          <a:p>
            <a:endParaRPr lang="en-US"/>
          </a:p>
        </p:txBody>
      </p:sp>
      <p:sp>
        <p:nvSpPr>
          <p:cNvPr id="15" name="Text 12"/>
          <p:cNvSpPr/>
          <p:nvPr/>
        </p:nvSpPr>
        <p:spPr>
          <a:xfrm>
            <a:off x="2473452" y="2395728"/>
            <a:ext cx="1641348"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Traffic exports to Excel</a:t>
            </a:r>
            <a:endParaRPr lang="en-US" sz="1050" dirty="0"/>
          </a:p>
        </p:txBody>
      </p:sp>
      <p:sp>
        <p:nvSpPr>
          <p:cNvPr id="16" name="Shape 13"/>
          <p:cNvSpPr/>
          <p:nvPr/>
        </p:nvSpPr>
        <p:spPr>
          <a:xfrm>
            <a:off x="4288536" y="2395728"/>
            <a:ext cx="1751076" cy="749808"/>
          </a:xfrm>
          <a:prstGeom prst="rightArrow">
            <a:avLst/>
          </a:prstGeom>
          <a:solidFill>
            <a:srgbClr val="17384A"/>
          </a:solidFill>
          <a:ln/>
        </p:spPr>
        <p:txBody>
          <a:bodyPr/>
          <a:lstStyle/>
          <a:p>
            <a:endParaRPr lang="en-US"/>
          </a:p>
        </p:txBody>
      </p:sp>
      <p:sp>
        <p:nvSpPr>
          <p:cNvPr id="17" name="Text 14"/>
          <p:cNvSpPr/>
          <p:nvPr/>
        </p:nvSpPr>
        <p:spPr>
          <a:xfrm>
            <a:off x="4334256" y="2395728"/>
            <a:ext cx="1641348"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Addresses checked by hand</a:t>
            </a:r>
            <a:endParaRPr lang="en-US" sz="1050" dirty="0"/>
          </a:p>
        </p:txBody>
      </p:sp>
      <p:sp>
        <p:nvSpPr>
          <p:cNvPr id="18" name="Shape 15"/>
          <p:cNvSpPr/>
          <p:nvPr/>
        </p:nvSpPr>
        <p:spPr>
          <a:xfrm>
            <a:off x="6149340" y="2395728"/>
            <a:ext cx="1751076" cy="749808"/>
          </a:xfrm>
          <a:prstGeom prst="rightArrow">
            <a:avLst/>
          </a:prstGeom>
          <a:solidFill>
            <a:srgbClr val="17384A"/>
          </a:solidFill>
          <a:ln/>
        </p:spPr>
        <p:txBody>
          <a:bodyPr/>
          <a:lstStyle/>
          <a:p>
            <a:endParaRPr lang="en-US"/>
          </a:p>
        </p:txBody>
      </p:sp>
      <p:sp>
        <p:nvSpPr>
          <p:cNvPr id="19" name="Text 16"/>
          <p:cNvSpPr/>
          <p:nvPr/>
        </p:nvSpPr>
        <p:spPr>
          <a:xfrm>
            <a:off x="6195060" y="2395728"/>
            <a:ext cx="1641348"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Deliveries grouped, vans assigned</a:t>
            </a:r>
            <a:endParaRPr lang="en-US" sz="1050" dirty="0"/>
          </a:p>
        </p:txBody>
      </p:sp>
      <p:sp>
        <p:nvSpPr>
          <p:cNvPr id="20" name="Shape 17"/>
          <p:cNvSpPr/>
          <p:nvPr/>
        </p:nvSpPr>
        <p:spPr>
          <a:xfrm>
            <a:off x="8010144" y="2395728"/>
            <a:ext cx="1751076" cy="749808"/>
          </a:xfrm>
          <a:prstGeom prst="rightArrow">
            <a:avLst/>
          </a:prstGeom>
          <a:solidFill>
            <a:srgbClr val="17384A"/>
          </a:solidFill>
          <a:ln/>
        </p:spPr>
        <p:txBody>
          <a:bodyPr/>
          <a:lstStyle/>
          <a:p>
            <a:endParaRPr lang="en-US"/>
          </a:p>
        </p:txBody>
      </p:sp>
      <p:sp>
        <p:nvSpPr>
          <p:cNvPr id="21" name="Text 18"/>
          <p:cNvSpPr/>
          <p:nvPr/>
        </p:nvSpPr>
        <p:spPr>
          <a:xfrm>
            <a:off x="8055864" y="2395728"/>
            <a:ext cx="1641348"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Warehouse loads</a:t>
            </a:r>
            <a:endParaRPr lang="en-US" sz="1050" dirty="0"/>
          </a:p>
        </p:txBody>
      </p:sp>
      <p:sp>
        <p:nvSpPr>
          <p:cNvPr id="22" name="Shape 19"/>
          <p:cNvSpPr/>
          <p:nvPr/>
        </p:nvSpPr>
        <p:spPr>
          <a:xfrm>
            <a:off x="9870948" y="2395728"/>
            <a:ext cx="1751076" cy="749808"/>
          </a:xfrm>
          <a:prstGeom prst="rightArrow">
            <a:avLst/>
          </a:prstGeom>
          <a:solidFill>
            <a:srgbClr val="D97706"/>
          </a:solidFill>
          <a:ln/>
        </p:spPr>
        <p:txBody>
          <a:bodyPr/>
          <a:lstStyle/>
          <a:p>
            <a:endParaRPr lang="en-US"/>
          </a:p>
        </p:txBody>
      </p:sp>
      <p:sp>
        <p:nvSpPr>
          <p:cNvPr id="23" name="Text 20"/>
          <p:cNvSpPr/>
          <p:nvPr/>
        </p:nvSpPr>
        <p:spPr>
          <a:xfrm>
            <a:off x="9916668" y="2395728"/>
            <a:ext cx="1641348" cy="749808"/>
          </a:xfrm>
          <a:prstGeom prst="rect">
            <a:avLst/>
          </a:prstGeom>
          <a:noFill/>
          <a:ln/>
        </p:spPr>
        <p:txBody>
          <a:bodyPr wrap="square" lIns="0" tIns="0" rIns="0" bIns="0" rtlCol="0" anchor="ctr"/>
          <a:lstStyle/>
          <a:p>
            <a:pPr marL="0" indent="0" algn="ctr">
              <a:buNone/>
            </a:pPr>
            <a:r>
              <a:rPr lang="en-US" sz="1050" b="1" dirty="0">
                <a:solidFill>
                  <a:srgbClr val="0F1F2B"/>
                </a:solidFill>
                <a:latin typeface="Calibri" pitchFamily="34" charset="0"/>
                <a:ea typeface="Calibri" pitchFamily="34" charset="-122"/>
                <a:cs typeface="Calibri" pitchFamily="34" charset="-120"/>
              </a:rPr>
              <a:t>Vans depart — sometimes late</a:t>
            </a:r>
            <a:endParaRPr lang="en-US" sz="1050" dirty="0"/>
          </a:p>
        </p:txBody>
      </p:sp>
      <p:sp>
        <p:nvSpPr>
          <p:cNvPr id="24" name="Shape 21"/>
          <p:cNvSpPr/>
          <p:nvPr/>
        </p:nvSpPr>
        <p:spPr>
          <a:xfrm>
            <a:off x="566928" y="3529584"/>
            <a:ext cx="11055096" cy="786384"/>
          </a:xfrm>
          <a:prstGeom prst="rect">
            <a:avLst/>
          </a:prstGeom>
          <a:solidFill>
            <a:srgbClr val="EAF2F5"/>
          </a:solidFill>
          <a:ln/>
        </p:spPr>
        <p:txBody>
          <a:bodyPr/>
          <a:lstStyle/>
          <a:p>
            <a:endParaRPr lang="en-US"/>
          </a:p>
        </p:txBody>
      </p:sp>
      <p:sp>
        <p:nvSpPr>
          <p:cNvPr id="25" name="Shape 22"/>
          <p:cNvSpPr/>
          <p:nvPr/>
        </p:nvSpPr>
        <p:spPr>
          <a:xfrm>
            <a:off x="566928" y="3529584"/>
            <a:ext cx="82296" cy="786384"/>
          </a:xfrm>
          <a:prstGeom prst="rect">
            <a:avLst/>
          </a:prstGeom>
          <a:solidFill>
            <a:srgbClr val="D97706"/>
          </a:solidFill>
          <a:ln/>
        </p:spPr>
        <p:txBody>
          <a:bodyPr/>
          <a:lstStyle/>
          <a:p>
            <a:endParaRPr lang="en-US"/>
          </a:p>
        </p:txBody>
      </p:sp>
      <p:sp>
        <p:nvSpPr>
          <p:cNvPr id="26" name="Text 23"/>
          <p:cNvSpPr/>
          <p:nvPr/>
        </p:nvSpPr>
        <p:spPr>
          <a:xfrm>
            <a:off x="822960" y="3529584"/>
            <a:ext cx="10597896" cy="786384"/>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IN YOUR WORDS   </a:t>
            </a:r>
            <a:r>
              <a:rPr lang="en-US" sz="1200" i="1" dirty="0">
                <a:solidFill>
                  <a:srgbClr val="16232B"/>
                </a:solidFill>
                <a:latin typeface="Calibri" pitchFamily="34" charset="0"/>
                <a:ea typeface="Calibri" pitchFamily="34" charset="-122"/>
                <a:cs typeface="Calibri" pitchFamily="34" charset="-120"/>
              </a:rPr>
              <a:t>“There have been days when the planning was still being adjusted when the vans should already have been leaving the hub. If they leave late, they go straight into heavy Madrid traffic and that affects the rest of the day.”</a:t>
            </a:r>
            <a:endParaRPr lang="en-US" sz="1250" dirty="0"/>
          </a:p>
        </p:txBody>
      </p:sp>
      <p:sp>
        <p:nvSpPr>
          <p:cNvPr id="27" name="Shape 24"/>
          <p:cNvSpPr/>
          <p:nvPr/>
        </p:nvSpPr>
        <p:spPr>
          <a:xfrm>
            <a:off x="566928" y="4718304"/>
            <a:ext cx="11055096" cy="1207008"/>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28" name="Text 25"/>
          <p:cNvSpPr/>
          <p:nvPr/>
        </p:nvSpPr>
        <p:spPr>
          <a:xfrm>
            <a:off x="786384" y="4864608"/>
            <a:ext cx="10597896" cy="310896"/>
          </a:xfrm>
          <a:prstGeom prst="rect">
            <a:avLst/>
          </a:prstGeom>
          <a:noFill/>
          <a:ln/>
        </p:spPr>
        <p:txBody>
          <a:bodyPr wrap="square" lIns="0" tIns="0" rIns="0" bIns="0" rtlCol="0" anchor="ctr"/>
          <a:lstStyle/>
          <a:p>
            <a:pPr marL="0" indent="0">
              <a:buNone/>
            </a:pPr>
            <a:r>
              <a:rPr lang="en-US" sz="1100" dirty="0">
                <a:solidFill>
                  <a:srgbClr val="D97706"/>
                </a:solidFill>
                <a:latin typeface="Calibri" pitchFamily="34" charset="0"/>
                <a:ea typeface="Calibri" pitchFamily="34" charset="-122"/>
                <a:cs typeface="Calibri" pitchFamily="34" charset="-120"/>
              </a:rPr>
              <a:t>■ </a:t>
            </a:r>
            <a:r>
              <a:rPr lang="en-US" sz="1300" b="1" dirty="0">
                <a:solidFill>
                  <a:srgbClr val="17384A"/>
                </a:solidFill>
                <a:latin typeface="Calibri" pitchFamily="34" charset="0"/>
                <a:ea typeface="Calibri" pitchFamily="34" charset="-122"/>
                <a:cs typeface="Calibri" pitchFamily="34" charset="-120"/>
              </a:rPr>
              <a:t>Why this is the expensive hour</a:t>
            </a:r>
            <a:endParaRPr lang="en-US" sz="1100" dirty="0"/>
          </a:p>
        </p:txBody>
      </p:sp>
      <p:sp>
        <p:nvSpPr>
          <p:cNvPr id="29" name="Text 26"/>
          <p:cNvSpPr/>
          <p:nvPr/>
        </p:nvSpPr>
        <p:spPr>
          <a:xfrm>
            <a:off x="786384" y="5193792"/>
            <a:ext cx="10597896" cy="65836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routing system is basic, so the real planning tool is Excel — rebuilt from the order export every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checking, grouping and vehicle assignment are all manual, and all sit on the critical path to departure.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An overrun here is not recovered later: it converts directly into peak-traffic kilometres and late stops.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What we heard: after the hub gate</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Once a van leaves, the operating picture is reconstructed by telephone.</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3</a:t>
            </a:r>
            <a:endParaRPr lang="en-US" sz="850" dirty="0"/>
          </a:p>
        </p:txBody>
      </p:sp>
      <p:sp>
        <p:nvSpPr>
          <p:cNvPr id="12" name="Shape 9"/>
          <p:cNvSpPr/>
          <p:nvPr/>
        </p:nvSpPr>
        <p:spPr>
          <a:xfrm>
            <a:off x="566928" y="2395728"/>
            <a:ext cx="3502152" cy="251460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13" name="Text 10"/>
          <p:cNvSpPr/>
          <p:nvPr/>
        </p:nvSpPr>
        <p:spPr>
          <a:xfrm>
            <a:off x="768096" y="2578608"/>
            <a:ext cx="3099816" cy="274320"/>
          </a:xfrm>
          <a:prstGeom prst="rect">
            <a:avLst/>
          </a:prstGeom>
          <a:noFill/>
          <a:ln/>
        </p:spPr>
        <p:txBody>
          <a:bodyPr wrap="square" lIns="0" tIns="0" rIns="0" bIns="0" rtlCol="0" anchor="ctr"/>
          <a:lstStyle/>
          <a:p>
            <a:pPr marL="0" indent="0">
              <a:buNone/>
            </a:pPr>
            <a:r>
              <a:rPr lang="en-US" sz="950" b="1" kern="0" spc="150" dirty="0">
                <a:solidFill>
                  <a:srgbClr val="2E5C72"/>
                </a:solidFill>
                <a:latin typeface="Calibri" pitchFamily="34" charset="0"/>
                <a:ea typeface="Calibri" pitchFamily="34" charset="-122"/>
                <a:cs typeface="Calibri" pitchFamily="34" charset="-120"/>
              </a:rPr>
              <a:t>CUSTOMER SERVICE</a:t>
            </a:r>
            <a:endParaRPr lang="en-US" sz="950" dirty="0"/>
          </a:p>
        </p:txBody>
      </p:sp>
      <p:sp>
        <p:nvSpPr>
          <p:cNvPr id="14" name="Text 11"/>
          <p:cNvSpPr/>
          <p:nvPr/>
        </p:nvSpPr>
        <p:spPr>
          <a:xfrm>
            <a:off x="768096" y="2852928"/>
            <a:ext cx="3099816" cy="640080"/>
          </a:xfrm>
          <a:prstGeom prst="rect">
            <a:avLst/>
          </a:prstGeom>
          <a:noFill/>
          <a:ln/>
        </p:spPr>
        <p:txBody>
          <a:bodyPr wrap="square" lIns="0" tIns="0" rIns="0" bIns="0" rtlCol="0" anchor="t"/>
          <a:lstStyle/>
          <a:p>
            <a:pPr marL="0" indent="0">
              <a:buNone/>
            </a:pPr>
            <a:r>
              <a:rPr lang="en-US" sz="1600" b="1" dirty="0">
                <a:solidFill>
                  <a:srgbClr val="17384A"/>
                </a:solidFill>
                <a:latin typeface="Georgia" pitchFamily="34" charset="0"/>
                <a:ea typeface="Georgia" pitchFamily="34" charset="-122"/>
                <a:cs typeface="Georgia" pitchFamily="34" charset="-120"/>
              </a:rPr>
              <a:t>Takes the call</a:t>
            </a:r>
            <a:endParaRPr lang="en-US" sz="1600" dirty="0"/>
          </a:p>
        </p:txBody>
      </p:sp>
      <p:sp>
        <p:nvSpPr>
          <p:cNvPr id="15" name="Text 12"/>
          <p:cNvSpPr/>
          <p:nvPr/>
        </p:nvSpPr>
        <p:spPr>
          <a:xfrm>
            <a:off x="768096" y="3474720"/>
            <a:ext cx="3099816" cy="1325880"/>
          </a:xfrm>
          <a:prstGeom prst="rect">
            <a:avLst/>
          </a:prstGeom>
          <a:noFill/>
          <a:ln/>
        </p:spPr>
        <p:txBody>
          <a:bodyPr wrap="square" lIns="0" tIns="0" rIns="0" bIns="0" rtlCol="0" anchor="t"/>
          <a:lstStyle/>
          <a:p>
            <a:pPr marL="0" indent="0">
              <a:buNone/>
            </a:pPr>
            <a:r>
              <a:rPr lang="en-US" sz="1100" dirty="0">
                <a:solidFill>
                  <a:srgbClr val="16232B"/>
                </a:solidFill>
                <a:latin typeface="Calibri" pitchFamily="34" charset="0"/>
                <a:ea typeface="Calibri" pitchFamily="34" charset="-122"/>
                <a:cs typeface="Calibri" pitchFamily="34" charset="-120"/>
              </a:rPr>
              <a:t>Can say the parcel is out for delivery. Cannot give a reliable one- or two-hour window, and often cannot answer “where is it?” from the screen.</a:t>
            </a:r>
            <a:endParaRPr lang="en-US" sz="1100" dirty="0"/>
          </a:p>
        </p:txBody>
      </p:sp>
      <p:sp>
        <p:nvSpPr>
          <p:cNvPr id="16" name="Shape 13"/>
          <p:cNvSpPr/>
          <p:nvPr/>
        </p:nvSpPr>
        <p:spPr>
          <a:xfrm>
            <a:off x="4343400" y="2395728"/>
            <a:ext cx="3502152" cy="251460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17" name="Text 14"/>
          <p:cNvSpPr/>
          <p:nvPr/>
        </p:nvSpPr>
        <p:spPr>
          <a:xfrm>
            <a:off x="4544568" y="2578608"/>
            <a:ext cx="3099816" cy="274320"/>
          </a:xfrm>
          <a:prstGeom prst="rect">
            <a:avLst/>
          </a:prstGeom>
          <a:noFill/>
          <a:ln/>
        </p:spPr>
        <p:txBody>
          <a:bodyPr wrap="square" lIns="0" tIns="0" rIns="0" bIns="0" rtlCol="0" anchor="ctr"/>
          <a:lstStyle/>
          <a:p>
            <a:pPr marL="0" indent="0">
              <a:buNone/>
            </a:pPr>
            <a:r>
              <a:rPr lang="en-US" sz="950" b="1" kern="0" spc="150" dirty="0">
                <a:solidFill>
                  <a:srgbClr val="2E5C72"/>
                </a:solidFill>
                <a:latin typeface="Calibri" pitchFamily="34" charset="0"/>
                <a:ea typeface="Calibri" pitchFamily="34" charset="-122"/>
                <a:cs typeface="Calibri" pitchFamily="34" charset="-120"/>
              </a:rPr>
              <a:t>TRAFFIC TEAM</a:t>
            </a:r>
            <a:endParaRPr lang="en-US" sz="950" dirty="0"/>
          </a:p>
        </p:txBody>
      </p:sp>
      <p:sp>
        <p:nvSpPr>
          <p:cNvPr id="18" name="Text 15"/>
          <p:cNvSpPr/>
          <p:nvPr/>
        </p:nvSpPr>
        <p:spPr>
          <a:xfrm>
            <a:off x="4544568" y="2852928"/>
            <a:ext cx="3099816" cy="640080"/>
          </a:xfrm>
          <a:prstGeom prst="rect">
            <a:avLst/>
          </a:prstGeom>
          <a:noFill/>
          <a:ln/>
        </p:spPr>
        <p:txBody>
          <a:bodyPr wrap="square" lIns="0" tIns="0" rIns="0" bIns="0" rtlCol="0" anchor="t"/>
          <a:lstStyle/>
          <a:p>
            <a:pPr marL="0" indent="0">
              <a:buNone/>
            </a:pPr>
            <a:r>
              <a:rPr lang="en-US" sz="1600" b="1" dirty="0">
                <a:solidFill>
                  <a:srgbClr val="17384A"/>
                </a:solidFill>
                <a:latin typeface="Georgia" pitchFamily="34" charset="0"/>
                <a:ea typeface="Georgia" pitchFamily="34" charset="-122"/>
                <a:cs typeface="Georgia" pitchFamily="34" charset="-120"/>
              </a:rPr>
              <a:t>Owns the decision</a:t>
            </a:r>
            <a:endParaRPr lang="en-US" sz="1600" dirty="0"/>
          </a:p>
        </p:txBody>
      </p:sp>
      <p:sp>
        <p:nvSpPr>
          <p:cNvPr id="19" name="Text 16"/>
          <p:cNvSpPr/>
          <p:nvPr/>
        </p:nvSpPr>
        <p:spPr>
          <a:xfrm>
            <a:off x="4544568" y="3474720"/>
            <a:ext cx="3099816" cy="1325880"/>
          </a:xfrm>
          <a:prstGeom prst="rect">
            <a:avLst/>
          </a:prstGeom>
          <a:noFill/>
          <a:ln/>
        </p:spPr>
        <p:txBody>
          <a:bodyPr wrap="square" lIns="0" tIns="0" rIns="0" bIns="0" rtlCol="0" anchor="t"/>
          <a:lstStyle/>
          <a:p>
            <a:pPr marL="0" indent="0">
              <a:buNone/>
            </a:pPr>
            <a:r>
              <a:rPr lang="en-US" sz="1100" dirty="0">
                <a:solidFill>
                  <a:srgbClr val="16232B"/>
                </a:solidFill>
                <a:latin typeface="Calibri" pitchFamily="34" charset="0"/>
                <a:ea typeface="Calibri" pitchFamily="34" charset="-122"/>
                <a:cs typeface="Calibri" pitchFamily="34" charset="-120"/>
              </a:rPr>
              <a:t>Handles route changes, absent drivers, vehicle faults and customer changes — without a complete real-time view of what is actually happening on the road.</a:t>
            </a:r>
            <a:endParaRPr lang="en-US" sz="1100" dirty="0"/>
          </a:p>
        </p:txBody>
      </p:sp>
      <p:sp>
        <p:nvSpPr>
          <p:cNvPr id="20" name="Shape 17"/>
          <p:cNvSpPr/>
          <p:nvPr/>
        </p:nvSpPr>
        <p:spPr>
          <a:xfrm>
            <a:off x="8119872" y="2395728"/>
            <a:ext cx="3502152" cy="2514600"/>
          </a:xfrm>
          <a:prstGeom prst="rect">
            <a:avLst/>
          </a:prstGeom>
          <a:solidFill>
            <a:srgbClr val="17384A"/>
          </a:solidFill>
          <a:ln/>
          <a:effectLst>
            <a:outerShdw blurRad="88900" dist="38100" dir="8100000" algn="bl" rotWithShape="0">
              <a:srgbClr val="1C2440">
                <a:alpha val="13000"/>
              </a:srgbClr>
            </a:outerShdw>
          </a:effectLst>
        </p:spPr>
        <p:txBody>
          <a:bodyPr/>
          <a:lstStyle/>
          <a:p>
            <a:endParaRPr lang="en-US"/>
          </a:p>
        </p:txBody>
      </p:sp>
      <p:sp>
        <p:nvSpPr>
          <p:cNvPr id="21" name="Text 18"/>
          <p:cNvSpPr/>
          <p:nvPr/>
        </p:nvSpPr>
        <p:spPr>
          <a:xfrm>
            <a:off x="8321040" y="2578608"/>
            <a:ext cx="3099816" cy="274320"/>
          </a:xfrm>
          <a:prstGeom prst="rect">
            <a:avLst/>
          </a:prstGeom>
          <a:noFill/>
          <a:ln/>
        </p:spPr>
        <p:txBody>
          <a:bodyPr wrap="square" lIns="0" tIns="0" rIns="0" bIns="0" rtlCol="0" anchor="ctr"/>
          <a:lstStyle/>
          <a:p>
            <a:pPr marL="0" indent="0">
              <a:buNone/>
            </a:pPr>
            <a:r>
              <a:rPr lang="en-US" sz="950" b="1" kern="0" spc="150" dirty="0">
                <a:solidFill>
                  <a:srgbClr val="D97706"/>
                </a:solidFill>
                <a:latin typeface="Calibri" pitchFamily="34" charset="0"/>
                <a:ea typeface="Calibri" pitchFamily="34" charset="-122"/>
                <a:cs typeface="Calibri" pitchFamily="34" charset="-120"/>
              </a:rPr>
              <a:t>THE DRIVER'S PHONE</a:t>
            </a:r>
            <a:endParaRPr lang="en-US" sz="950" dirty="0"/>
          </a:p>
        </p:txBody>
      </p:sp>
      <p:sp>
        <p:nvSpPr>
          <p:cNvPr id="22" name="Text 19"/>
          <p:cNvSpPr/>
          <p:nvPr/>
        </p:nvSpPr>
        <p:spPr>
          <a:xfrm>
            <a:off x="8321040" y="2852928"/>
            <a:ext cx="3099816" cy="640080"/>
          </a:xfrm>
          <a:prstGeom prst="rect">
            <a:avLst/>
          </a:prstGeom>
          <a:noFill/>
          <a:ln/>
        </p:spPr>
        <p:txBody>
          <a:bodyPr wrap="square" lIns="0" tIns="0" rIns="0" bIns="0" rtlCol="0" anchor="t"/>
          <a:lstStyle/>
          <a:p>
            <a:pPr marL="0" indent="0">
              <a:buNone/>
            </a:pPr>
            <a:r>
              <a:rPr lang="en-US" sz="1600" b="1" dirty="0">
                <a:solidFill>
                  <a:srgbClr val="FFFFFF"/>
                </a:solidFill>
                <a:latin typeface="Georgia" pitchFamily="34" charset="0"/>
                <a:ea typeface="Georgia" pitchFamily="34" charset="-122"/>
                <a:cs typeface="Georgia" pitchFamily="34" charset="-120"/>
              </a:rPr>
              <a:t>Holds the answer</a:t>
            </a:r>
            <a:endParaRPr lang="en-US" sz="1600" dirty="0"/>
          </a:p>
        </p:txBody>
      </p:sp>
      <p:sp>
        <p:nvSpPr>
          <p:cNvPr id="23" name="Text 20"/>
          <p:cNvSpPr/>
          <p:nvPr/>
        </p:nvSpPr>
        <p:spPr>
          <a:xfrm>
            <a:off x="8321040" y="3474720"/>
            <a:ext cx="3099816" cy="1325880"/>
          </a:xfrm>
          <a:prstGeom prst="rect">
            <a:avLst/>
          </a:prstGeom>
          <a:noFill/>
          <a:ln/>
        </p:spPr>
        <p:txBody>
          <a:bodyPr wrap="square" lIns="0" tIns="0" rIns="0" bIns="0" rtlCol="0" anchor="t"/>
          <a:lstStyle/>
          <a:p>
            <a:pPr marL="0" indent="0">
              <a:buNone/>
            </a:pPr>
            <a:r>
              <a:rPr lang="en-US" sz="1100" dirty="0">
                <a:solidFill>
                  <a:srgbClr val="FFFFFF"/>
                </a:solidFill>
                <a:latin typeface="Calibri" pitchFamily="34" charset="0"/>
                <a:ea typeface="Calibri" pitchFamily="34" charset="-122"/>
                <a:cs typeface="Calibri" pitchFamily="34" charset="-120"/>
              </a:rPr>
              <a:t>The fastest way to learn the true status of a delivery is still to call the driver. Own drivers record on the company PDA; freelance drivers do not all follow the same process.</a:t>
            </a:r>
            <a:endParaRPr lang="en-US" sz="1100" dirty="0"/>
          </a:p>
        </p:txBody>
      </p:sp>
      <p:sp>
        <p:nvSpPr>
          <p:cNvPr id="24" name="Shape 21"/>
          <p:cNvSpPr/>
          <p:nvPr/>
        </p:nvSpPr>
        <p:spPr>
          <a:xfrm>
            <a:off x="566928" y="5294376"/>
            <a:ext cx="11055096" cy="786384"/>
          </a:xfrm>
          <a:prstGeom prst="rect">
            <a:avLst/>
          </a:prstGeom>
          <a:solidFill>
            <a:srgbClr val="EAF2F5"/>
          </a:solidFill>
          <a:ln/>
        </p:spPr>
        <p:txBody>
          <a:bodyPr/>
          <a:lstStyle/>
          <a:p>
            <a:endParaRPr lang="en-US"/>
          </a:p>
        </p:txBody>
      </p:sp>
      <p:sp>
        <p:nvSpPr>
          <p:cNvPr id="25" name="Shape 22"/>
          <p:cNvSpPr/>
          <p:nvPr/>
        </p:nvSpPr>
        <p:spPr>
          <a:xfrm>
            <a:off x="566928" y="5294376"/>
            <a:ext cx="82296" cy="786384"/>
          </a:xfrm>
          <a:prstGeom prst="rect">
            <a:avLst/>
          </a:prstGeom>
          <a:solidFill>
            <a:srgbClr val="D97706"/>
          </a:solidFill>
          <a:ln/>
        </p:spPr>
        <p:txBody>
          <a:bodyPr/>
          <a:lstStyle/>
          <a:p>
            <a:endParaRPr lang="en-US"/>
          </a:p>
        </p:txBody>
      </p:sp>
      <p:sp>
        <p:nvSpPr>
          <p:cNvPr id="26" name="Text 23"/>
          <p:cNvSpPr/>
          <p:nvPr/>
        </p:nvSpPr>
        <p:spPr>
          <a:xfrm>
            <a:off x="822960" y="5294376"/>
            <a:ext cx="10597896" cy="786384"/>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IN YOUR WORDS   </a:t>
            </a:r>
            <a:r>
              <a:rPr lang="en-US" sz="1200" i="1" dirty="0">
                <a:solidFill>
                  <a:srgbClr val="16232B"/>
                </a:solidFill>
                <a:latin typeface="Calibri" pitchFamily="34" charset="0"/>
                <a:ea typeface="Calibri" pitchFamily="34" charset="-122"/>
                <a:cs typeface="Calibri" pitchFamily="34" charset="-120"/>
              </a:rPr>
              <a:t>“They may need to ask the traffic team, who then calls the driver. It makes a simple question much slower than it should be.”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What it is costing you</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The cost already shows in your own numbers — and in two customer relationships.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4</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3438144"/>
        </p:xfrm>
        <a:graphic>
          <a:graphicData uri="http://schemas.openxmlformats.org/drawingml/2006/table">
            <a:tbl>
              <a:tblPr/>
              <a:tblGrid>
                <a:gridCol w="23317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928616">
                  <a:extLst>
                    <a:ext uri="{9D8B030D-6E8A-4147-A177-3AD203B41FA5}">
                      <a16:colId xmlns:a16="http://schemas.microsoft.com/office/drawing/2014/main" val="20002"/>
                    </a:ext>
                  </a:extLst>
                </a:gridCol>
              </a:tblGrid>
              <a:tr h="329184">
                <a:tc>
                  <a:txBody>
                    <a:bodyPr/>
                    <a:lstStyle/>
                    <a:p>
                      <a:pPr marL="0" indent="0">
                        <a:buNone/>
                      </a:pPr>
                      <a:r>
                        <a:rPr lang="en-US" sz="1100" b="1" dirty="0">
                          <a:solidFill>
                            <a:srgbClr val="FFFFFF"/>
                          </a:solidFill>
                        </a:rPr>
                        <a:t>WHERE IT LANDS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marL="0" indent="0">
                        <a:buNone/>
                      </a:pPr>
                      <a:r>
                        <a:rPr lang="en-US" sz="1100" b="1" dirty="0">
                          <a:solidFill>
                            <a:srgbClr val="FFFFFF"/>
                          </a:solidFill>
                        </a:rPr>
                        <a:t>WHAT YOU TOLD US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marL="0" indent="0">
                        <a:buNone/>
                      </a:pPr>
                      <a:r>
                        <a:rPr lang="en-US" sz="1100" b="1" dirty="0">
                          <a:solidFill>
                            <a:srgbClr val="FFFFFF"/>
                          </a:solidFill>
                        </a:rPr>
                        <a:t>WHY IT FOLLOWS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extLst>
                  <a:ext uri="{0D108BD9-81ED-4DB2-BD59-A6C34878D82A}">
                    <a16:rowId xmlns:a16="http://schemas.microsoft.com/office/drawing/2014/main" val="10000"/>
                  </a:ext>
                </a:extLst>
              </a:tr>
              <a:tr h="658368">
                <a:tc>
                  <a:txBody>
                    <a:bodyPr/>
                    <a:lstStyle/>
                    <a:p>
                      <a:pPr marL="0" indent="0">
                        <a:buNone/>
                      </a:pPr>
                      <a:r>
                        <a:rPr lang="en-US" sz="1050" b="1" dirty="0">
                          <a:solidFill>
                            <a:srgbClr val="17384A"/>
                          </a:solidFill>
                        </a:rPr>
                        <a:t>Failed first attempts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12–14% in the worst residential zones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Addresses are inconsistent and arrival timing is unpredictable, so nobody is home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050" b="1" dirty="0">
                          <a:solidFill>
                            <a:srgbClr val="17384A"/>
                          </a:solidFill>
                        </a:rPr>
                        <a:t>Repeat handling</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Returned parcels are reprocessed at the hub the next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Every failed stop is paid for twice — kilometres, handling and a second attempt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050" b="1" dirty="0">
                          <a:solidFill>
                            <a:srgbClr val="17384A"/>
                          </a:solidFill>
                        </a:rPr>
                        <a:t>Commercial exposure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SLA penalties from two important B2C customers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Reliability, not price, is what is now at risk</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050" b="1" dirty="0">
                          <a:solidFill>
                            <a:srgbClr val="17384A"/>
                          </a:solidFill>
                        </a:rPr>
                        <a:t>The rest of the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Late departures run straight into Madrid peak traffic</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A planning overrun in the morning compounds across every stop after it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050" b="1" dirty="0">
                          <a:solidFill>
                            <a:srgbClr val="17384A"/>
                          </a:solidFill>
                        </a:rPr>
                        <a:t>Traffic team capacity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Re-planning and driver calls absorb the working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Time that should go to genuine exceptions goes to reconstruction</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What you raised that we had not asked about</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Both are the same problem: operating knowledge that never reached a system.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5</a:t>
            </a:r>
            <a:endParaRPr lang="en-US" sz="850" dirty="0"/>
          </a:p>
        </p:txBody>
      </p:sp>
      <p:sp>
        <p:nvSpPr>
          <p:cNvPr id="12" name="Shape 9"/>
          <p:cNvSpPr/>
          <p:nvPr/>
        </p:nvSpPr>
        <p:spPr>
          <a:xfrm>
            <a:off x="566928" y="2395728"/>
            <a:ext cx="5390388" cy="233172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13" name="Shape 10"/>
          <p:cNvSpPr/>
          <p:nvPr/>
        </p:nvSpPr>
        <p:spPr>
          <a:xfrm>
            <a:off x="566928" y="2395728"/>
            <a:ext cx="5390388" cy="457200"/>
          </a:xfrm>
          <a:prstGeom prst="rect">
            <a:avLst/>
          </a:prstGeom>
          <a:solidFill>
            <a:srgbClr val="17384A"/>
          </a:solidFill>
          <a:ln/>
        </p:spPr>
        <p:txBody>
          <a:bodyPr/>
          <a:lstStyle/>
          <a:p>
            <a:endParaRPr lang="en-US"/>
          </a:p>
        </p:txBody>
      </p:sp>
      <p:sp>
        <p:nvSpPr>
          <p:cNvPr id="14" name="Text 11"/>
          <p:cNvSpPr/>
          <p:nvPr/>
        </p:nvSpPr>
        <p:spPr>
          <a:xfrm>
            <a:off x="768096" y="2395728"/>
            <a:ext cx="5024628" cy="457200"/>
          </a:xfrm>
          <a:prstGeom prst="rect">
            <a:avLst/>
          </a:prstGeom>
          <a:noFill/>
          <a:ln/>
        </p:spPr>
        <p:txBody>
          <a:bodyPr wrap="square" lIns="0" tIns="0" rIns="0" bIns="0" rtlCol="0" anchor="ctr"/>
          <a:lstStyle/>
          <a:p>
            <a:pPr marL="0" indent="0">
              <a:buNone/>
            </a:pPr>
            <a:r>
              <a:rPr lang="en-US" sz="1300" b="1" kern="0" spc="200" dirty="0">
                <a:solidFill>
                  <a:srgbClr val="FFFFFF"/>
                </a:solidFill>
                <a:latin typeface="Calibri" pitchFamily="34" charset="0"/>
                <a:ea typeface="Calibri" pitchFamily="34" charset="-122"/>
                <a:cs typeface="Calibri" pitchFamily="34" charset="-120"/>
              </a:rPr>
              <a:t>THE KNOWLEDGE THAT WALKED OUT</a:t>
            </a:r>
            <a:endParaRPr lang="en-US" sz="1300" dirty="0"/>
          </a:p>
        </p:txBody>
      </p:sp>
      <p:sp>
        <p:nvSpPr>
          <p:cNvPr id="15" name="Text 12"/>
          <p:cNvSpPr/>
          <p:nvPr/>
        </p:nvSpPr>
        <p:spPr>
          <a:xfrm>
            <a:off x="768096"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 very experienced traffic manager left recently.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Route logic, awkward addresses and local timing lived in that person's head, not in the system.</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Every new planner rebuilds that judgement from scratch, under morning time pressure.</a:t>
            </a:r>
            <a:endParaRPr lang="en-US" sz="1150" dirty="0"/>
          </a:p>
        </p:txBody>
      </p:sp>
      <p:sp>
        <p:nvSpPr>
          <p:cNvPr id="16" name="Shape 13"/>
          <p:cNvSpPr/>
          <p:nvPr/>
        </p:nvSpPr>
        <p:spPr>
          <a:xfrm>
            <a:off x="6231636" y="2395728"/>
            <a:ext cx="5390388" cy="233172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17" name="Shape 14"/>
          <p:cNvSpPr/>
          <p:nvPr/>
        </p:nvSpPr>
        <p:spPr>
          <a:xfrm>
            <a:off x="6231636" y="2395728"/>
            <a:ext cx="5390388" cy="457200"/>
          </a:xfrm>
          <a:prstGeom prst="rect">
            <a:avLst/>
          </a:prstGeom>
          <a:solidFill>
            <a:srgbClr val="D97706"/>
          </a:solidFill>
          <a:ln/>
        </p:spPr>
        <p:txBody>
          <a:bodyPr/>
          <a:lstStyle/>
          <a:p>
            <a:endParaRPr lang="en-US"/>
          </a:p>
        </p:txBody>
      </p:sp>
      <p:sp>
        <p:nvSpPr>
          <p:cNvPr id="18" name="Text 15"/>
          <p:cNvSpPr/>
          <p:nvPr/>
        </p:nvSpPr>
        <p:spPr>
          <a:xfrm>
            <a:off x="6432804" y="2395728"/>
            <a:ext cx="5024628" cy="457200"/>
          </a:xfrm>
          <a:prstGeom prst="rect">
            <a:avLst/>
          </a:prstGeom>
          <a:noFill/>
          <a:ln/>
        </p:spPr>
        <p:txBody>
          <a:bodyPr wrap="square" lIns="0" tIns="0" rIns="0" bIns="0" rtlCol="0" anchor="ctr"/>
          <a:lstStyle/>
          <a:p>
            <a:pPr marL="0" indent="0">
              <a:buNone/>
            </a:pPr>
            <a:r>
              <a:rPr lang="en-US" sz="1300" b="1" kern="0" spc="200" dirty="0">
                <a:solidFill>
                  <a:srgbClr val="0F1F2B"/>
                </a:solidFill>
                <a:latin typeface="Calibri" pitchFamily="34" charset="0"/>
                <a:ea typeface="Calibri" pitchFamily="34" charset="-122"/>
                <a:cs typeface="Calibri" pitchFamily="34" charset="-120"/>
              </a:rPr>
              <a:t>THE FLEET THAT CHANGED SHAPE</a:t>
            </a:r>
            <a:endParaRPr lang="en-US" sz="1300" dirty="0"/>
          </a:p>
        </p:txBody>
      </p:sp>
      <p:sp>
        <p:nvSpPr>
          <p:cNvPr id="19" name="Text 16"/>
          <p:cNvSpPr/>
          <p:nvPr/>
        </p:nvSpPr>
        <p:spPr>
          <a:xfrm>
            <a:off x="6432804"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Low Emission Zone rules have made the fleet mixed — diesel and electric.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Planning does not treat the two differently enough.</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Real electric range falls short of the paper figure under stop-and-go traffic and high stop counts.</a:t>
            </a:r>
            <a:endParaRPr lang="en-US" sz="1150" dirty="0"/>
          </a:p>
        </p:txBody>
      </p:sp>
      <p:sp>
        <p:nvSpPr>
          <p:cNvPr id="20" name="Shape 17"/>
          <p:cNvSpPr/>
          <p:nvPr/>
        </p:nvSpPr>
        <p:spPr>
          <a:xfrm>
            <a:off x="566928" y="5111496"/>
            <a:ext cx="11055096" cy="786384"/>
          </a:xfrm>
          <a:prstGeom prst="rect">
            <a:avLst/>
          </a:prstGeom>
          <a:solidFill>
            <a:srgbClr val="EAF2F5"/>
          </a:solidFill>
          <a:ln/>
        </p:spPr>
        <p:txBody>
          <a:bodyPr/>
          <a:lstStyle/>
          <a:p>
            <a:endParaRPr lang="en-US"/>
          </a:p>
        </p:txBody>
      </p:sp>
      <p:sp>
        <p:nvSpPr>
          <p:cNvPr id="21" name="Shape 18"/>
          <p:cNvSpPr/>
          <p:nvPr/>
        </p:nvSpPr>
        <p:spPr>
          <a:xfrm>
            <a:off x="566928" y="5111496"/>
            <a:ext cx="82296" cy="786384"/>
          </a:xfrm>
          <a:prstGeom prst="rect">
            <a:avLst/>
          </a:prstGeom>
          <a:solidFill>
            <a:srgbClr val="D97706"/>
          </a:solidFill>
          <a:ln/>
        </p:spPr>
        <p:txBody>
          <a:bodyPr/>
          <a:lstStyle/>
          <a:p>
            <a:endParaRPr lang="en-US"/>
          </a:p>
        </p:txBody>
      </p:sp>
      <p:sp>
        <p:nvSpPr>
          <p:cNvPr id="22" name="Text 19"/>
          <p:cNvSpPr/>
          <p:nvPr/>
        </p:nvSpPr>
        <p:spPr>
          <a:xfrm>
            <a:off x="822960" y="5111496"/>
            <a:ext cx="10597896" cy="786384"/>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WHY IT MATTERS   </a:t>
            </a:r>
            <a:r>
              <a:rPr lang="en-US" sz="1200" dirty="0">
                <a:solidFill>
                  <a:srgbClr val="16232B"/>
                </a:solidFill>
                <a:latin typeface="Calibri" pitchFamily="34" charset="0"/>
                <a:ea typeface="Calibri" pitchFamily="34" charset="-122"/>
                <a:cs typeface="Calibri" pitchFamily="34" charset="-120"/>
              </a:rPr>
              <a:t>Neither is a people problem. Both are facts the business relies on daily that exist nowhere it can query, so every plan re-derives them — or gets them wrong.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F2B"/>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D9770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The problem we are solving</a:t>
            </a:r>
            <a:endParaRPr lang="en-US" sz="3000" dirty="0"/>
          </a:p>
        </p:txBody>
      </p:sp>
      <p:sp>
        <p:nvSpPr>
          <p:cNvPr id="6" name="Text 3"/>
          <p:cNvSpPr/>
          <p:nvPr/>
        </p:nvSpPr>
        <p:spPr>
          <a:xfrm>
            <a:off x="566928" y="1691640"/>
            <a:ext cx="11055096" cy="1371600"/>
          </a:xfrm>
          <a:prstGeom prst="rect">
            <a:avLst/>
          </a:prstGeom>
          <a:noFill/>
          <a:ln/>
        </p:spPr>
        <p:txBody>
          <a:bodyPr wrap="square" lIns="0" tIns="0" rIns="0" bIns="0" rtlCol="0" anchor="t"/>
          <a:lstStyle/>
          <a:p>
            <a:pPr marL="0" indent="0">
              <a:buNone/>
            </a:pPr>
            <a:r>
              <a:rPr lang="en-US" sz="3000" b="1" dirty="0">
                <a:solidFill>
                  <a:srgbClr val="FFFFFF"/>
                </a:solidFill>
                <a:latin typeface="Georgia" pitchFamily="34" charset="0"/>
                <a:ea typeface="Georgia" pitchFamily="34" charset="-122"/>
                <a:cs typeface="Georgia" pitchFamily="34" charset="-120"/>
              </a:rPr>
              <a:t>IberiaNex plans each morning on data it cannot trust,</a:t>
            </a:r>
            <a:endParaRPr lang="en-US" sz="3000" dirty="0"/>
          </a:p>
          <a:p>
            <a:pPr marL="0" indent="0">
              <a:buNone/>
            </a:pPr>
            <a:r>
              <a:rPr lang="en-US" sz="3000" b="1" dirty="0">
                <a:solidFill>
                  <a:srgbClr val="FFFFFF"/>
                </a:solidFill>
                <a:latin typeface="Georgia" pitchFamily="34" charset="0"/>
                <a:ea typeface="Georgia" pitchFamily="34" charset="-122"/>
                <a:cs typeface="Georgia" pitchFamily="34" charset="-120"/>
              </a:rPr>
              <a:t>and runs each afternoon on a picture it cannot see.</a:t>
            </a:r>
            <a:endParaRPr lang="en-US" sz="3000" dirty="0"/>
          </a:p>
        </p:txBody>
      </p:sp>
      <p:sp>
        <p:nvSpPr>
          <p:cNvPr id="7" name="Shape 4"/>
          <p:cNvSpPr/>
          <p:nvPr/>
        </p:nvSpPr>
        <p:spPr>
          <a:xfrm>
            <a:off x="566928" y="3246120"/>
            <a:ext cx="11055096" cy="713232"/>
          </a:xfrm>
          <a:prstGeom prst="rect">
            <a:avLst/>
          </a:prstGeom>
          <a:solidFill>
            <a:srgbClr val="17384A"/>
          </a:solidFill>
          <a:ln/>
        </p:spPr>
        <p:txBody>
          <a:bodyPr/>
          <a:lstStyle/>
          <a:p>
            <a:endParaRPr lang="en-US"/>
          </a:p>
        </p:txBody>
      </p:sp>
      <p:sp>
        <p:nvSpPr>
          <p:cNvPr id="8" name="Shape 5"/>
          <p:cNvSpPr/>
          <p:nvPr/>
        </p:nvSpPr>
        <p:spPr>
          <a:xfrm>
            <a:off x="566928" y="3246120"/>
            <a:ext cx="82296" cy="713232"/>
          </a:xfrm>
          <a:prstGeom prst="rect">
            <a:avLst/>
          </a:prstGeom>
          <a:solidFill>
            <a:srgbClr val="D97706"/>
          </a:solidFill>
          <a:ln/>
        </p:spPr>
        <p:txBody>
          <a:bodyPr/>
          <a:lstStyle/>
          <a:p>
            <a:endParaRPr lang="en-US"/>
          </a:p>
        </p:txBody>
      </p:sp>
      <p:sp>
        <p:nvSpPr>
          <p:cNvPr id="9" name="Text 6"/>
          <p:cNvSpPr/>
          <p:nvPr/>
        </p:nvSpPr>
        <p:spPr>
          <a:xfrm>
            <a:off x="822960" y="3246120"/>
            <a:ext cx="10597896" cy="713232"/>
          </a:xfrm>
          <a:prstGeom prst="rect">
            <a:avLst/>
          </a:prstGeom>
          <a:noFill/>
          <a:ln/>
        </p:spPr>
        <p:txBody>
          <a:bodyPr wrap="square" lIns="0" tIns="0" rIns="0" bIns="0" rtlCol="0" anchor="ctr"/>
          <a:lstStyle/>
          <a:p>
            <a:pPr marL="0" indent="0">
              <a:buNone/>
            </a:pPr>
            <a:r>
              <a:rPr lang="en-US" sz="1250" b="1" dirty="0">
                <a:solidFill>
                  <a:srgbClr val="F5C77E"/>
                </a:solidFill>
                <a:latin typeface="Calibri" pitchFamily="34" charset="0"/>
                <a:ea typeface="Calibri" pitchFamily="34" charset="-122"/>
                <a:cs typeface="Calibri" pitchFamily="34" charset="-120"/>
              </a:rPr>
              <a:t>The symptoms follow from the two gaps.   </a:t>
            </a:r>
            <a:r>
              <a:rPr lang="en-US" sz="1250" dirty="0">
                <a:solidFill>
                  <a:srgbClr val="FFFFFF"/>
                </a:solidFill>
                <a:latin typeface="Calibri" pitchFamily="34" charset="0"/>
                <a:ea typeface="Calibri" pitchFamily="34" charset="-122"/>
                <a:cs typeface="Calibri" pitchFamily="34" charset="-120"/>
              </a:rPr>
              <a:t>The 12–14% failed first attempts, the SLA penalties and the calls to drivers are all downstream of them.</a:t>
            </a:r>
            <a:endParaRPr lang="en-US" sz="1250" dirty="0"/>
          </a:p>
        </p:txBody>
      </p:sp>
      <p:sp>
        <p:nvSpPr>
          <p:cNvPr id="10" name="Shape 7"/>
          <p:cNvSpPr/>
          <p:nvPr/>
        </p:nvSpPr>
        <p:spPr>
          <a:xfrm>
            <a:off x="566928" y="4123944"/>
            <a:ext cx="11055096" cy="713232"/>
          </a:xfrm>
          <a:prstGeom prst="rect">
            <a:avLst/>
          </a:prstGeom>
          <a:solidFill>
            <a:srgbClr val="17384A"/>
          </a:solidFill>
          <a:ln/>
        </p:spPr>
        <p:txBody>
          <a:bodyPr/>
          <a:lstStyle/>
          <a:p>
            <a:endParaRPr lang="en-US"/>
          </a:p>
        </p:txBody>
      </p:sp>
      <p:sp>
        <p:nvSpPr>
          <p:cNvPr id="11" name="Shape 8"/>
          <p:cNvSpPr/>
          <p:nvPr/>
        </p:nvSpPr>
        <p:spPr>
          <a:xfrm>
            <a:off x="566928" y="4123944"/>
            <a:ext cx="82296" cy="713232"/>
          </a:xfrm>
          <a:prstGeom prst="rect">
            <a:avLst/>
          </a:prstGeom>
          <a:solidFill>
            <a:srgbClr val="D97706"/>
          </a:solidFill>
          <a:ln/>
        </p:spPr>
        <p:txBody>
          <a:bodyPr/>
          <a:lstStyle/>
          <a:p>
            <a:endParaRPr lang="en-US"/>
          </a:p>
        </p:txBody>
      </p:sp>
      <p:sp>
        <p:nvSpPr>
          <p:cNvPr id="12" name="Text 9"/>
          <p:cNvSpPr/>
          <p:nvPr/>
        </p:nvSpPr>
        <p:spPr>
          <a:xfrm>
            <a:off x="822960" y="4123944"/>
            <a:ext cx="10597896" cy="713232"/>
          </a:xfrm>
          <a:prstGeom prst="rect">
            <a:avLst/>
          </a:prstGeom>
          <a:noFill/>
          <a:ln/>
        </p:spPr>
        <p:txBody>
          <a:bodyPr wrap="square" lIns="0" tIns="0" rIns="0" bIns="0" rtlCol="0" anchor="ctr"/>
          <a:lstStyle/>
          <a:p>
            <a:pPr marL="0" indent="0">
              <a:buNone/>
            </a:pPr>
            <a:r>
              <a:rPr lang="en-US" sz="1250" b="1" dirty="0">
                <a:solidFill>
                  <a:srgbClr val="F5C77E"/>
                </a:solidFill>
                <a:latin typeface="Calibri" pitchFamily="34" charset="0"/>
                <a:ea typeface="Calibri" pitchFamily="34" charset="-122"/>
                <a:cs typeface="Calibri" pitchFamily="34" charset="-120"/>
              </a:rPr>
              <a:t>This is not a routing-algorithm problem.   </a:t>
            </a:r>
            <a:r>
              <a:rPr lang="en-US" sz="1250" dirty="0">
                <a:solidFill>
                  <a:srgbClr val="FFFFFF"/>
                </a:solidFill>
                <a:latin typeface="Calibri" pitchFamily="34" charset="0"/>
                <a:ea typeface="Calibri" pitchFamily="34" charset="-122"/>
                <a:cs typeface="Calibri" pitchFamily="34" charset="-120"/>
              </a:rPr>
              <a:t>Your planners know the roads. What they lack is clean addresses, an earlier start and a shared view after the gate.</a:t>
            </a:r>
            <a:endParaRPr lang="en-US" sz="1250" dirty="0"/>
          </a:p>
        </p:txBody>
      </p:sp>
      <p:sp>
        <p:nvSpPr>
          <p:cNvPr id="13" name="Shape 10"/>
          <p:cNvSpPr/>
          <p:nvPr/>
        </p:nvSpPr>
        <p:spPr>
          <a:xfrm>
            <a:off x="566928" y="5001768"/>
            <a:ext cx="11055096" cy="786384"/>
          </a:xfrm>
          <a:prstGeom prst="rect">
            <a:avLst/>
          </a:prstGeom>
          <a:solidFill>
            <a:srgbClr val="EAF2F5"/>
          </a:solidFill>
          <a:ln/>
        </p:spPr>
        <p:txBody>
          <a:bodyPr/>
          <a:lstStyle/>
          <a:p>
            <a:endParaRPr lang="en-US"/>
          </a:p>
        </p:txBody>
      </p:sp>
      <p:sp>
        <p:nvSpPr>
          <p:cNvPr id="14" name="Shape 11"/>
          <p:cNvSpPr/>
          <p:nvPr/>
        </p:nvSpPr>
        <p:spPr>
          <a:xfrm>
            <a:off x="566928" y="5001768"/>
            <a:ext cx="82296" cy="786384"/>
          </a:xfrm>
          <a:prstGeom prst="rect">
            <a:avLst/>
          </a:prstGeom>
          <a:solidFill>
            <a:srgbClr val="D97706"/>
          </a:solidFill>
          <a:ln/>
        </p:spPr>
        <p:txBody>
          <a:bodyPr/>
          <a:lstStyle/>
          <a:p>
            <a:endParaRPr lang="en-US"/>
          </a:p>
        </p:txBody>
      </p:sp>
      <p:sp>
        <p:nvSpPr>
          <p:cNvPr id="15" name="Text 12"/>
          <p:cNvSpPr/>
          <p:nvPr/>
        </p:nvSpPr>
        <p:spPr>
          <a:xfrm>
            <a:off x="822960" y="5001768"/>
            <a:ext cx="10597896" cy="786384"/>
          </a:xfrm>
          <a:prstGeom prst="rect">
            <a:avLst/>
          </a:prstGeom>
          <a:noFill/>
          <a:ln/>
        </p:spPr>
        <p:txBody>
          <a:bodyPr wrap="square" lIns="0" tIns="0" rIns="0" bIns="0" rtlCol="0" anchor="ctr"/>
          <a:lstStyle/>
          <a:p>
            <a:pPr marL="0" indent="0">
              <a:buNone/>
            </a:pPr>
            <a:r>
              <a:rPr lang="en-US" sz="1100" b="1" kern="0" spc="100" dirty="0">
                <a:solidFill>
                  <a:srgbClr val="D97706"/>
                </a:solidFill>
                <a:latin typeface="Calibri" pitchFamily="34" charset="0"/>
                <a:ea typeface="Calibri" pitchFamily="34" charset="-122"/>
                <a:cs typeface="Calibri" pitchFamily="34" charset="-120"/>
              </a:rPr>
              <a:t>IN YOUR WORDS   </a:t>
            </a:r>
            <a:r>
              <a:rPr lang="en-US" sz="1250" i="1" dirty="0">
                <a:solidFill>
                  <a:srgbClr val="16232B"/>
                </a:solidFill>
                <a:latin typeface="Calibri" pitchFamily="34" charset="0"/>
                <a:ea typeface="Calibri" pitchFamily="34" charset="-122"/>
                <a:cs typeface="Calibri" pitchFamily="34" charset="-120"/>
              </a:rPr>
              <a:t>“The main priority is to make deliveries more reliable without simply adding more vehicles or more people every time volumes grow.”</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Three changes, in this order</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Each traces to something you told us, and each is sized to run beside live operations.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6</a:t>
            </a:r>
            <a:endParaRPr lang="en-US" sz="850" dirty="0"/>
          </a:p>
        </p:txBody>
      </p:sp>
      <p:sp>
        <p:nvSpPr>
          <p:cNvPr id="12" name="Shape 9"/>
          <p:cNvSpPr/>
          <p:nvPr/>
        </p:nvSpPr>
        <p:spPr>
          <a:xfrm>
            <a:off x="566928" y="2395728"/>
            <a:ext cx="3502152" cy="278892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13" name="Shape 10"/>
          <p:cNvSpPr/>
          <p:nvPr/>
        </p:nvSpPr>
        <p:spPr>
          <a:xfrm>
            <a:off x="566928" y="2395728"/>
            <a:ext cx="3502152" cy="822960"/>
          </a:xfrm>
          <a:prstGeom prst="rect">
            <a:avLst/>
          </a:prstGeom>
          <a:solidFill>
            <a:srgbClr val="17384A"/>
          </a:solidFill>
          <a:ln/>
        </p:spPr>
        <p:txBody>
          <a:bodyPr/>
          <a:lstStyle/>
          <a:p>
            <a:endParaRPr lang="en-US"/>
          </a:p>
        </p:txBody>
      </p:sp>
      <p:sp>
        <p:nvSpPr>
          <p:cNvPr id="14" name="Text 11"/>
          <p:cNvSpPr/>
          <p:nvPr/>
        </p:nvSpPr>
        <p:spPr>
          <a:xfrm>
            <a:off x="768096" y="2505456"/>
            <a:ext cx="914400" cy="320040"/>
          </a:xfrm>
          <a:prstGeom prst="rect">
            <a:avLst/>
          </a:prstGeom>
          <a:noFill/>
          <a:ln/>
        </p:spPr>
        <p:txBody>
          <a:bodyPr wrap="square" lIns="0" tIns="0" rIns="0" bIns="0" rtlCol="0" anchor="ctr"/>
          <a:lstStyle/>
          <a:p>
            <a:pPr marL="0" indent="0">
              <a:buNone/>
            </a:pPr>
            <a:r>
              <a:rPr lang="en-US" sz="1500" b="1" dirty="0">
                <a:solidFill>
                  <a:srgbClr val="D97706"/>
                </a:solidFill>
                <a:latin typeface="Georgia" pitchFamily="34" charset="0"/>
                <a:ea typeface="Georgia" pitchFamily="34" charset="-122"/>
                <a:cs typeface="Georgia" pitchFamily="34" charset="-120"/>
              </a:rPr>
              <a:t>01</a:t>
            </a:r>
            <a:endParaRPr lang="en-US" sz="1500" dirty="0"/>
          </a:p>
        </p:txBody>
      </p:sp>
      <p:sp>
        <p:nvSpPr>
          <p:cNvPr id="15" name="Text 12"/>
          <p:cNvSpPr/>
          <p:nvPr/>
        </p:nvSpPr>
        <p:spPr>
          <a:xfrm>
            <a:off x="768096" y="2798064"/>
            <a:ext cx="3099816" cy="365760"/>
          </a:xfrm>
          <a:prstGeom prst="rect">
            <a:avLst/>
          </a:prstGeom>
          <a:noFill/>
          <a:ln/>
        </p:spPr>
        <p:txBody>
          <a:bodyPr wrap="square" lIns="0" tIns="0" rIns="0" bIns="0" rtlCol="0" anchor="ctr"/>
          <a:lstStyle/>
          <a:p>
            <a:pPr marL="0" indent="0">
              <a:buNone/>
            </a:pPr>
            <a:r>
              <a:rPr lang="en-US" sz="1500" b="1" dirty="0">
                <a:solidFill>
                  <a:srgbClr val="FFFFFF"/>
                </a:solidFill>
                <a:latin typeface="Georgia" pitchFamily="34" charset="0"/>
                <a:ea typeface="Georgia" pitchFamily="34" charset="-122"/>
                <a:cs typeface="Georgia" pitchFamily="34" charset="-120"/>
              </a:rPr>
              <a:t>Addresses you can trust</a:t>
            </a:r>
            <a:endParaRPr lang="en-US" sz="1500" dirty="0"/>
          </a:p>
        </p:txBody>
      </p:sp>
      <p:sp>
        <p:nvSpPr>
          <p:cNvPr id="16" name="Text 13"/>
          <p:cNvSpPr/>
          <p:nvPr/>
        </p:nvSpPr>
        <p:spPr>
          <a:xfrm>
            <a:off x="786384"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Normalise and geocode against your own order and proof-of-delivery history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Score every stop for first-attempt risk</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Publish a realistic 1–2 hour window to the consignee</a:t>
            </a:r>
            <a:endParaRPr lang="en-US" sz="1150" dirty="0"/>
          </a:p>
        </p:txBody>
      </p:sp>
      <p:sp>
        <p:nvSpPr>
          <p:cNvPr id="17" name="Shape 14"/>
          <p:cNvSpPr/>
          <p:nvPr/>
        </p:nvSpPr>
        <p:spPr>
          <a:xfrm>
            <a:off x="4343400" y="2395728"/>
            <a:ext cx="3502152" cy="278892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18" name="Shape 15"/>
          <p:cNvSpPr/>
          <p:nvPr/>
        </p:nvSpPr>
        <p:spPr>
          <a:xfrm>
            <a:off x="4343400" y="2395728"/>
            <a:ext cx="3502152" cy="822960"/>
          </a:xfrm>
          <a:prstGeom prst="rect">
            <a:avLst/>
          </a:prstGeom>
          <a:solidFill>
            <a:srgbClr val="17384A"/>
          </a:solidFill>
          <a:ln/>
        </p:spPr>
        <p:txBody>
          <a:bodyPr/>
          <a:lstStyle/>
          <a:p>
            <a:endParaRPr lang="en-US"/>
          </a:p>
        </p:txBody>
      </p:sp>
      <p:sp>
        <p:nvSpPr>
          <p:cNvPr id="19" name="Text 16"/>
          <p:cNvSpPr/>
          <p:nvPr/>
        </p:nvSpPr>
        <p:spPr>
          <a:xfrm>
            <a:off x="4544568" y="2505456"/>
            <a:ext cx="914400" cy="320040"/>
          </a:xfrm>
          <a:prstGeom prst="rect">
            <a:avLst/>
          </a:prstGeom>
          <a:noFill/>
          <a:ln/>
        </p:spPr>
        <p:txBody>
          <a:bodyPr wrap="square" lIns="0" tIns="0" rIns="0" bIns="0" rtlCol="0" anchor="ctr"/>
          <a:lstStyle/>
          <a:p>
            <a:pPr marL="0" indent="0">
              <a:buNone/>
            </a:pPr>
            <a:r>
              <a:rPr lang="en-US" sz="1500" b="1" dirty="0">
                <a:solidFill>
                  <a:srgbClr val="D97706"/>
                </a:solidFill>
                <a:latin typeface="Georgia" pitchFamily="34" charset="0"/>
                <a:ea typeface="Georgia" pitchFamily="34" charset="-122"/>
                <a:cs typeface="Georgia" pitchFamily="34" charset="-120"/>
              </a:rPr>
              <a:t>02</a:t>
            </a:r>
            <a:endParaRPr lang="en-US" sz="1500" dirty="0"/>
          </a:p>
        </p:txBody>
      </p:sp>
      <p:sp>
        <p:nvSpPr>
          <p:cNvPr id="20" name="Text 17"/>
          <p:cNvSpPr/>
          <p:nvPr/>
        </p:nvSpPr>
        <p:spPr>
          <a:xfrm>
            <a:off x="4544568" y="2798064"/>
            <a:ext cx="3099816" cy="365760"/>
          </a:xfrm>
          <a:prstGeom prst="rect">
            <a:avLst/>
          </a:prstGeom>
          <a:noFill/>
          <a:ln/>
        </p:spPr>
        <p:txBody>
          <a:bodyPr wrap="square" lIns="0" tIns="0" rIns="0" bIns="0" rtlCol="0" anchor="ctr"/>
          <a:lstStyle/>
          <a:p>
            <a:pPr marL="0" indent="0">
              <a:buNone/>
            </a:pPr>
            <a:r>
              <a:rPr lang="en-US" sz="1500" b="1" dirty="0">
                <a:solidFill>
                  <a:srgbClr val="FFFFFF"/>
                </a:solidFill>
                <a:latin typeface="Georgia" pitchFamily="34" charset="0"/>
                <a:ea typeface="Georgia" pitchFamily="34" charset="-122"/>
                <a:cs typeface="Georgia" pitchFamily="34" charset="-120"/>
              </a:rPr>
              <a:t>A morning plan already built</a:t>
            </a:r>
            <a:endParaRPr lang="en-US" sz="1500" dirty="0"/>
          </a:p>
        </p:txBody>
      </p:sp>
      <p:sp>
        <p:nvSpPr>
          <p:cNvPr id="21" name="Text 18"/>
          <p:cNvSpPr/>
          <p:nvPr/>
        </p:nvSpPr>
        <p:spPr>
          <a:xfrm>
            <a:off x="4562856"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Overnight route proposal from the closed order file</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Diesel and electric treated as genuinely different vehicles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Local knowledge captured as reusable rules, not one person's memory</a:t>
            </a:r>
            <a:endParaRPr lang="en-US" sz="1150" dirty="0"/>
          </a:p>
        </p:txBody>
      </p:sp>
      <p:sp>
        <p:nvSpPr>
          <p:cNvPr id="22" name="Shape 19"/>
          <p:cNvSpPr/>
          <p:nvPr/>
        </p:nvSpPr>
        <p:spPr>
          <a:xfrm>
            <a:off x="8119872" y="2395728"/>
            <a:ext cx="3502152" cy="278892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23" name="Shape 20"/>
          <p:cNvSpPr/>
          <p:nvPr/>
        </p:nvSpPr>
        <p:spPr>
          <a:xfrm>
            <a:off x="8119872" y="2395728"/>
            <a:ext cx="3502152" cy="822960"/>
          </a:xfrm>
          <a:prstGeom prst="rect">
            <a:avLst/>
          </a:prstGeom>
          <a:solidFill>
            <a:srgbClr val="17384A"/>
          </a:solidFill>
          <a:ln/>
        </p:spPr>
        <p:txBody>
          <a:bodyPr/>
          <a:lstStyle/>
          <a:p>
            <a:endParaRPr lang="en-US"/>
          </a:p>
        </p:txBody>
      </p:sp>
      <p:sp>
        <p:nvSpPr>
          <p:cNvPr id="24" name="Text 21"/>
          <p:cNvSpPr/>
          <p:nvPr/>
        </p:nvSpPr>
        <p:spPr>
          <a:xfrm>
            <a:off x="8321040" y="2505456"/>
            <a:ext cx="914400" cy="320040"/>
          </a:xfrm>
          <a:prstGeom prst="rect">
            <a:avLst/>
          </a:prstGeom>
          <a:noFill/>
          <a:ln/>
        </p:spPr>
        <p:txBody>
          <a:bodyPr wrap="square" lIns="0" tIns="0" rIns="0" bIns="0" rtlCol="0" anchor="ctr"/>
          <a:lstStyle/>
          <a:p>
            <a:pPr marL="0" indent="0">
              <a:buNone/>
            </a:pPr>
            <a:r>
              <a:rPr lang="en-US" sz="1500" b="1" dirty="0">
                <a:solidFill>
                  <a:srgbClr val="D97706"/>
                </a:solidFill>
                <a:latin typeface="Georgia" pitchFamily="34" charset="0"/>
                <a:ea typeface="Georgia" pitchFamily="34" charset="-122"/>
                <a:cs typeface="Georgia" pitchFamily="34" charset="-120"/>
              </a:rPr>
              <a:t>03</a:t>
            </a:r>
            <a:endParaRPr lang="en-US" sz="1500" dirty="0"/>
          </a:p>
        </p:txBody>
      </p:sp>
      <p:sp>
        <p:nvSpPr>
          <p:cNvPr id="25" name="Text 22"/>
          <p:cNvSpPr/>
          <p:nvPr/>
        </p:nvSpPr>
        <p:spPr>
          <a:xfrm>
            <a:off x="8321040" y="2798064"/>
            <a:ext cx="3099816" cy="365760"/>
          </a:xfrm>
          <a:prstGeom prst="rect">
            <a:avLst/>
          </a:prstGeom>
          <a:noFill/>
          <a:ln/>
        </p:spPr>
        <p:txBody>
          <a:bodyPr wrap="square" lIns="0" tIns="0" rIns="0" bIns="0" rtlCol="0" anchor="ctr"/>
          <a:lstStyle/>
          <a:p>
            <a:pPr marL="0" indent="0">
              <a:buNone/>
            </a:pPr>
            <a:r>
              <a:rPr lang="en-US" sz="1500" b="1" dirty="0">
                <a:solidFill>
                  <a:srgbClr val="FFFFFF"/>
                </a:solidFill>
                <a:latin typeface="Georgia" pitchFamily="34" charset="0"/>
                <a:ea typeface="Georgia" pitchFamily="34" charset="-122"/>
                <a:cs typeface="Georgia" pitchFamily="34" charset="-120"/>
              </a:rPr>
              <a:t>One picture of the day</a:t>
            </a:r>
            <a:endParaRPr lang="en-US" sz="1500" dirty="0"/>
          </a:p>
        </p:txBody>
      </p:sp>
      <p:sp>
        <p:nvSpPr>
          <p:cNvPr id="26" name="Text 23"/>
          <p:cNvSpPr/>
          <p:nvPr/>
        </p:nvSpPr>
        <p:spPr>
          <a:xfrm>
            <a:off x="8339328"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The same delivery events from every driver, freelance included</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Customer service answers from the screen, not by phoning traffic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Exceptions surfaced while there is still time to act on them</a:t>
            </a:r>
            <a:endParaRPr lang="en-US" sz="1150" dirty="0"/>
          </a:p>
        </p:txBody>
      </p:sp>
      <p:sp>
        <p:nvSpPr>
          <p:cNvPr id="27" name="Shape 24"/>
          <p:cNvSpPr/>
          <p:nvPr/>
        </p:nvSpPr>
        <p:spPr>
          <a:xfrm>
            <a:off x="566928" y="5513832"/>
            <a:ext cx="11055096" cy="676656"/>
          </a:xfrm>
          <a:prstGeom prst="rect">
            <a:avLst/>
          </a:prstGeom>
          <a:solidFill>
            <a:srgbClr val="EAF2F5"/>
          </a:solidFill>
          <a:ln/>
        </p:spPr>
        <p:txBody>
          <a:bodyPr/>
          <a:lstStyle/>
          <a:p>
            <a:endParaRPr lang="en-US"/>
          </a:p>
        </p:txBody>
      </p:sp>
      <p:sp>
        <p:nvSpPr>
          <p:cNvPr id="28" name="Shape 25"/>
          <p:cNvSpPr/>
          <p:nvPr/>
        </p:nvSpPr>
        <p:spPr>
          <a:xfrm>
            <a:off x="566928" y="5513832"/>
            <a:ext cx="82296" cy="676656"/>
          </a:xfrm>
          <a:prstGeom prst="rect">
            <a:avLst/>
          </a:prstGeom>
          <a:solidFill>
            <a:srgbClr val="D97706"/>
          </a:solidFill>
          <a:ln/>
        </p:spPr>
        <p:txBody>
          <a:bodyPr/>
          <a:lstStyle/>
          <a:p>
            <a:endParaRPr lang="en-US"/>
          </a:p>
        </p:txBody>
      </p:sp>
      <p:sp>
        <p:nvSpPr>
          <p:cNvPr id="29" name="Text 26"/>
          <p:cNvSpPr/>
          <p:nvPr/>
        </p:nvSpPr>
        <p:spPr>
          <a:xfrm>
            <a:off x="822960" y="5513832"/>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SEQUENCE   </a:t>
            </a:r>
            <a:r>
              <a:rPr lang="en-US" sz="1200" dirty="0">
                <a:solidFill>
                  <a:srgbClr val="16232B"/>
                </a:solidFill>
                <a:latin typeface="Calibri" pitchFamily="34" charset="0"/>
                <a:ea typeface="Calibri" pitchFamily="34" charset="-122"/>
                <a:cs typeface="Calibri" pitchFamily="34" charset="-120"/>
              </a:rPr>
              <a:t>01 first, because clean addresses are what make 02 and 03 worth having. Nothing here requires replacing the ERP.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01 — Clean addresses, honest delivery windows</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Attacking the 12–14% directly: the failure is mostly “nobody home” and “address wrong”, not “route bad”.</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7</a:t>
            </a:r>
            <a:endParaRPr lang="en-US" sz="850" dirty="0"/>
          </a:p>
        </p:txBody>
      </p:sp>
      <p:sp>
        <p:nvSpPr>
          <p:cNvPr id="12" name="Shape 9"/>
          <p:cNvSpPr/>
          <p:nvPr/>
        </p:nvSpPr>
        <p:spPr>
          <a:xfrm>
            <a:off x="566928" y="2395728"/>
            <a:ext cx="5390388" cy="2487168"/>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13" name="Text 10"/>
          <p:cNvSpPr/>
          <p:nvPr/>
        </p:nvSpPr>
        <p:spPr>
          <a:xfrm>
            <a:off x="786384" y="2542032"/>
            <a:ext cx="4933188" cy="310896"/>
          </a:xfrm>
          <a:prstGeom prst="rect">
            <a:avLst/>
          </a:prstGeom>
          <a:noFill/>
          <a:ln/>
        </p:spPr>
        <p:txBody>
          <a:bodyPr wrap="square" lIns="0" tIns="0" rIns="0" bIns="0" rtlCol="0" anchor="ctr"/>
          <a:lstStyle/>
          <a:p>
            <a:pPr marL="0" indent="0">
              <a:buNone/>
            </a:pPr>
            <a:r>
              <a:rPr lang="en-US" sz="1100" dirty="0">
                <a:solidFill>
                  <a:srgbClr val="D97706"/>
                </a:solidFill>
                <a:latin typeface="Calibri" pitchFamily="34" charset="0"/>
                <a:ea typeface="Calibri" pitchFamily="34" charset="-122"/>
                <a:cs typeface="Calibri" pitchFamily="34" charset="-120"/>
              </a:rPr>
              <a:t>■ </a:t>
            </a:r>
            <a:r>
              <a:rPr lang="en-US" sz="1300" b="1" dirty="0">
                <a:solidFill>
                  <a:srgbClr val="17384A"/>
                </a:solidFill>
                <a:latin typeface="Calibri" pitchFamily="34" charset="0"/>
                <a:ea typeface="Calibri" pitchFamily="34" charset="-122"/>
                <a:cs typeface="Calibri" pitchFamily="34" charset="-120"/>
              </a:rPr>
              <a:t>What we build</a:t>
            </a:r>
            <a:endParaRPr lang="en-US" sz="1100" dirty="0"/>
          </a:p>
        </p:txBody>
      </p:sp>
      <p:sp>
        <p:nvSpPr>
          <p:cNvPr id="14" name="Text 11"/>
          <p:cNvSpPr/>
          <p:nvPr/>
        </p:nvSpPr>
        <p:spPr>
          <a:xfrm>
            <a:off x="786384"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normalisation and geocoding, trained on 24 months of your own orders and proof-of-delivery records.</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first-attempt risk score per stop, using history for that address, that building and that hour of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predicted 1–2 hour window, published to the consignee the evening before and confirmed on the morning.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review queue for the addresses the model is not confident about — a person confirms, and the fix is kept.</a:t>
            </a:r>
            <a:endParaRPr lang="en-US" sz="1100" dirty="0"/>
          </a:p>
        </p:txBody>
      </p:sp>
      <p:sp>
        <p:nvSpPr>
          <p:cNvPr id="15" name="Shape 12"/>
          <p:cNvSpPr/>
          <p:nvPr/>
        </p:nvSpPr>
        <p:spPr>
          <a:xfrm>
            <a:off x="6231636" y="2395728"/>
            <a:ext cx="5390388" cy="2487168"/>
          </a:xfrm>
          <a:prstGeom prst="rect">
            <a:avLst/>
          </a:prstGeom>
          <a:solidFill>
            <a:srgbClr val="17384A"/>
          </a:solidFill>
          <a:ln/>
          <a:effectLst>
            <a:outerShdw blurRad="88900" dist="38100" dir="8100000" algn="bl" rotWithShape="0">
              <a:srgbClr val="1C2440">
                <a:alpha val="13000"/>
              </a:srgbClr>
            </a:outerShdw>
          </a:effectLst>
        </p:spPr>
        <p:txBody>
          <a:bodyPr/>
          <a:lstStyle/>
          <a:p>
            <a:endParaRPr lang="en-US"/>
          </a:p>
        </p:txBody>
      </p:sp>
      <p:sp>
        <p:nvSpPr>
          <p:cNvPr id="16" name="Text 13"/>
          <p:cNvSpPr/>
          <p:nvPr/>
        </p:nvSpPr>
        <p:spPr>
          <a:xfrm>
            <a:off x="6451092" y="2542032"/>
            <a:ext cx="4933188" cy="310896"/>
          </a:xfrm>
          <a:prstGeom prst="rect">
            <a:avLst/>
          </a:prstGeom>
          <a:noFill/>
          <a:ln/>
        </p:spPr>
        <p:txBody>
          <a:bodyPr wrap="square" lIns="0" tIns="0" rIns="0" bIns="0" rtlCol="0" anchor="ctr"/>
          <a:lstStyle/>
          <a:p>
            <a:pPr marL="0" indent="0">
              <a:buNone/>
            </a:pPr>
            <a:r>
              <a:rPr lang="en-US" sz="1100" dirty="0">
                <a:solidFill>
                  <a:srgbClr val="D97706"/>
                </a:solidFill>
                <a:latin typeface="Calibri" pitchFamily="34" charset="0"/>
                <a:ea typeface="Calibri" pitchFamily="34" charset="-122"/>
                <a:cs typeface="Calibri" pitchFamily="34" charset="-120"/>
              </a:rPr>
              <a:t>■ </a:t>
            </a:r>
            <a:r>
              <a:rPr lang="en-US" sz="1300" b="1" dirty="0">
                <a:solidFill>
                  <a:srgbClr val="FFFFFF"/>
                </a:solidFill>
                <a:latin typeface="Calibri" pitchFamily="34" charset="0"/>
                <a:ea typeface="Calibri" pitchFamily="34" charset="-122"/>
                <a:cs typeface="Calibri" pitchFamily="34" charset="-120"/>
              </a:rPr>
              <a:t>What changes on the day</a:t>
            </a:r>
            <a:endParaRPr lang="en-US" sz="1100" dirty="0"/>
          </a:p>
        </p:txBody>
      </p:sp>
      <p:sp>
        <p:nvSpPr>
          <p:cNvPr id="17" name="Text 14"/>
          <p:cNvSpPr/>
          <p:nvPr/>
        </p:nvSpPr>
        <p:spPr>
          <a:xfrm>
            <a:off x="6451092"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Customer service gives a caller the window from the screen, without phoning the traffic team.</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High-risk stops get a confirmation message before the van is loaded, not after a failed doorstep.</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A bad address is corrected once and stays corrected, instead of failing again next month.</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Second attempts stop being a routine cost of doing business in the residential zones.</a:t>
            </a:r>
            <a:endParaRPr lang="en-US" sz="1100" dirty="0"/>
          </a:p>
        </p:txBody>
      </p:sp>
      <p:sp>
        <p:nvSpPr>
          <p:cNvPr id="18" name="Shape 15"/>
          <p:cNvSpPr/>
          <p:nvPr/>
        </p:nvSpPr>
        <p:spPr>
          <a:xfrm>
            <a:off x="566928" y="5193792"/>
            <a:ext cx="11055096" cy="676656"/>
          </a:xfrm>
          <a:prstGeom prst="rect">
            <a:avLst/>
          </a:prstGeom>
          <a:solidFill>
            <a:srgbClr val="EAF2F5"/>
          </a:solidFill>
          <a:ln/>
        </p:spPr>
        <p:txBody>
          <a:bodyPr/>
          <a:lstStyle/>
          <a:p>
            <a:endParaRPr lang="en-US"/>
          </a:p>
        </p:txBody>
      </p:sp>
      <p:sp>
        <p:nvSpPr>
          <p:cNvPr id="19" name="Shape 16"/>
          <p:cNvSpPr/>
          <p:nvPr/>
        </p:nvSpPr>
        <p:spPr>
          <a:xfrm>
            <a:off x="566928" y="5193792"/>
            <a:ext cx="82296" cy="676656"/>
          </a:xfrm>
          <a:prstGeom prst="rect">
            <a:avLst/>
          </a:prstGeom>
          <a:solidFill>
            <a:srgbClr val="D97706"/>
          </a:solidFill>
          <a:ln/>
        </p:spPr>
        <p:txBody>
          <a:bodyPr/>
          <a:lstStyle/>
          <a:p>
            <a:endParaRPr lang="en-US"/>
          </a:p>
        </p:txBody>
      </p:sp>
      <p:sp>
        <p:nvSpPr>
          <p:cNvPr id="20" name="Text 17"/>
          <p:cNvSpPr/>
          <p:nvPr/>
        </p:nvSpPr>
        <p:spPr>
          <a:xfrm>
            <a:off x="822960" y="5193792"/>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IN YOUR WORDS   </a:t>
            </a:r>
            <a:r>
              <a:rPr lang="en-US" sz="1200" i="1" dirty="0">
                <a:solidFill>
                  <a:srgbClr val="16232B"/>
                </a:solidFill>
                <a:latin typeface="Calibri" pitchFamily="34" charset="0"/>
                <a:ea typeface="Calibri" pitchFamily="34" charset="-122"/>
                <a:cs typeface="Calibri" pitchFamily="34" charset="-120"/>
              </a:rPr>
              <a:t>“We can tell them that the parcel is out for delivery, but we cannot always give them a reliable one- or two-hour delivery window.”</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02 — A morning plan that is already built</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Planners move from building routes to reviewing exceptions — and the vans leave on the slot.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8</a:t>
            </a:r>
            <a:endParaRPr lang="en-US" sz="850" dirty="0"/>
          </a:p>
        </p:txBody>
      </p:sp>
      <p:sp>
        <p:nvSpPr>
          <p:cNvPr id="12" name="Shape 9"/>
          <p:cNvSpPr/>
          <p:nvPr/>
        </p:nvSpPr>
        <p:spPr>
          <a:xfrm>
            <a:off x="566928" y="2395728"/>
            <a:ext cx="2123237" cy="749808"/>
          </a:xfrm>
          <a:prstGeom prst="rightArrow">
            <a:avLst/>
          </a:prstGeom>
          <a:solidFill>
            <a:srgbClr val="17384A"/>
          </a:solidFill>
          <a:ln/>
        </p:spPr>
        <p:txBody>
          <a:bodyPr/>
          <a:lstStyle/>
          <a:p>
            <a:endParaRPr lang="en-US"/>
          </a:p>
        </p:txBody>
      </p:sp>
      <p:sp>
        <p:nvSpPr>
          <p:cNvPr id="13" name="Text 10"/>
          <p:cNvSpPr/>
          <p:nvPr/>
        </p:nvSpPr>
        <p:spPr>
          <a:xfrm>
            <a:off x="612648" y="2395728"/>
            <a:ext cx="2013509"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Order file closes overnight</a:t>
            </a:r>
            <a:endParaRPr lang="en-US" sz="1050" dirty="0"/>
          </a:p>
        </p:txBody>
      </p:sp>
      <p:sp>
        <p:nvSpPr>
          <p:cNvPr id="14" name="Shape 11"/>
          <p:cNvSpPr/>
          <p:nvPr/>
        </p:nvSpPr>
        <p:spPr>
          <a:xfrm>
            <a:off x="2799893" y="2395728"/>
            <a:ext cx="2123237" cy="749808"/>
          </a:xfrm>
          <a:prstGeom prst="rightArrow">
            <a:avLst/>
          </a:prstGeom>
          <a:solidFill>
            <a:srgbClr val="17384A"/>
          </a:solidFill>
          <a:ln/>
        </p:spPr>
        <p:txBody>
          <a:bodyPr/>
          <a:lstStyle/>
          <a:p>
            <a:endParaRPr lang="en-US"/>
          </a:p>
        </p:txBody>
      </p:sp>
      <p:sp>
        <p:nvSpPr>
          <p:cNvPr id="15" name="Text 12"/>
          <p:cNvSpPr/>
          <p:nvPr/>
        </p:nvSpPr>
        <p:spPr>
          <a:xfrm>
            <a:off x="2845613" y="2395728"/>
            <a:ext cx="2013509"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Routes proposed automatically</a:t>
            </a:r>
            <a:endParaRPr lang="en-US" sz="1050" dirty="0"/>
          </a:p>
        </p:txBody>
      </p:sp>
      <p:sp>
        <p:nvSpPr>
          <p:cNvPr id="16" name="Shape 13"/>
          <p:cNvSpPr/>
          <p:nvPr/>
        </p:nvSpPr>
        <p:spPr>
          <a:xfrm>
            <a:off x="5032858" y="2395728"/>
            <a:ext cx="2123237" cy="749808"/>
          </a:xfrm>
          <a:prstGeom prst="rightArrow">
            <a:avLst/>
          </a:prstGeom>
          <a:solidFill>
            <a:srgbClr val="17384A"/>
          </a:solidFill>
          <a:ln/>
        </p:spPr>
        <p:txBody>
          <a:bodyPr/>
          <a:lstStyle/>
          <a:p>
            <a:endParaRPr lang="en-US"/>
          </a:p>
        </p:txBody>
      </p:sp>
      <p:sp>
        <p:nvSpPr>
          <p:cNvPr id="17" name="Text 14"/>
          <p:cNvSpPr/>
          <p:nvPr/>
        </p:nvSpPr>
        <p:spPr>
          <a:xfrm>
            <a:off x="5078578" y="2395728"/>
            <a:ext cx="2013509"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Planner reviews only the exceptions</a:t>
            </a:r>
            <a:endParaRPr lang="en-US" sz="1050" dirty="0"/>
          </a:p>
        </p:txBody>
      </p:sp>
      <p:sp>
        <p:nvSpPr>
          <p:cNvPr id="18" name="Shape 15"/>
          <p:cNvSpPr/>
          <p:nvPr/>
        </p:nvSpPr>
        <p:spPr>
          <a:xfrm>
            <a:off x="7265822" y="2395728"/>
            <a:ext cx="2123237" cy="749808"/>
          </a:xfrm>
          <a:prstGeom prst="rightArrow">
            <a:avLst/>
          </a:prstGeom>
          <a:solidFill>
            <a:srgbClr val="17384A"/>
          </a:solidFill>
          <a:ln/>
        </p:spPr>
        <p:txBody>
          <a:bodyPr/>
          <a:lstStyle/>
          <a:p>
            <a:endParaRPr lang="en-US"/>
          </a:p>
        </p:txBody>
      </p:sp>
      <p:sp>
        <p:nvSpPr>
          <p:cNvPr id="19" name="Text 16"/>
          <p:cNvSpPr/>
          <p:nvPr/>
        </p:nvSpPr>
        <p:spPr>
          <a:xfrm>
            <a:off x="7311542" y="2395728"/>
            <a:ext cx="2013509"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Vehicle type and LEZ rules applied</a:t>
            </a:r>
            <a:endParaRPr lang="en-US" sz="1050" dirty="0"/>
          </a:p>
        </p:txBody>
      </p:sp>
      <p:sp>
        <p:nvSpPr>
          <p:cNvPr id="20" name="Shape 17"/>
          <p:cNvSpPr/>
          <p:nvPr/>
        </p:nvSpPr>
        <p:spPr>
          <a:xfrm>
            <a:off x="9498787" y="2395728"/>
            <a:ext cx="2123237" cy="749808"/>
          </a:xfrm>
          <a:prstGeom prst="rightArrow">
            <a:avLst/>
          </a:prstGeom>
          <a:solidFill>
            <a:srgbClr val="D97706"/>
          </a:solidFill>
          <a:ln/>
        </p:spPr>
        <p:txBody>
          <a:bodyPr/>
          <a:lstStyle/>
          <a:p>
            <a:endParaRPr lang="en-US"/>
          </a:p>
        </p:txBody>
      </p:sp>
      <p:sp>
        <p:nvSpPr>
          <p:cNvPr id="21" name="Text 18"/>
          <p:cNvSpPr/>
          <p:nvPr/>
        </p:nvSpPr>
        <p:spPr>
          <a:xfrm>
            <a:off x="9544507" y="2395728"/>
            <a:ext cx="2013509" cy="749808"/>
          </a:xfrm>
          <a:prstGeom prst="rect">
            <a:avLst/>
          </a:prstGeom>
          <a:noFill/>
          <a:ln/>
        </p:spPr>
        <p:txBody>
          <a:bodyPr wrap="square" lIns="0" tIns="0" rIns="0" bIns="0" rtlCol="0" anchor="ctr"/>
          <a:lstStyle/>
          <a:p>
            <a:pPr marL="0" indent="0" algn="ctr">
              <a:buNone/>
            </a:pPr>
            <a:r>
              <a:rPr lang="en-US" sz="1050" b="1" dirty="0">
                <a:solidFill>
                  <a:srgbClr val="0F1F2B"/>
                </a:solidFill>
                <a:latin typeface="Calibri" pitchFamily="34" charset="0"/>
                <a:ea typeface="Calibri" pitchFamily="34" charset="-122"/>
                <a:cs typeface="Calibri" pitchFamily="34" charset="-120"/>
              </a:rPr>
              <a:t>Vans depart on the slot</a:t>
            </a:r>
            <a:endParaRPr lang="en-US" sz="1050" dirty="0"/>
          </a:p>
        </p:txBody>
      </p:sp>
      <p:sp>
        <p:nvSpPr>
          <p:cNvPr id="22" name="Shape 19"/>
          <p:cNvSpPr/>
          <p:nvPr/>
        </p:nvSpPr>
        <p:spPr>
          <a:xfrm>
            <a:off x="566928" y="3511296"/>
            <a:ext cx="3502152" cy="228600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23" name="Text 20"/>
          <p:cNvSpPr/>
          <p:nvPr/>
        </p:nvSpPr>
        <p:spPr>
          <a:xfrm>
            <a:off x="768096" y="3694176"/>
            <a:ext cx="3099816" cy="274320"/>
          </a:xfrm>
          <a:prstGeom prst="rect">
            <a:avLst/>
          </a:prstGeom>
          <a:noFill/>
          <a:ln/>
        </p:spPr>
        <p:txBody>
          <a:bodyPr wrap="square" lIns="0" tIns="0" rIns="0" bIns="0" rtlCol="0" anchor="ctr"/>
          <a:lstStyle/>
          <a:p>
            <a:pPr marL="0" indent="0">
              <a:buNone/>
            </a:pPr>
            <a:r>
              <a:rPr lang="en-US" sz="950" b="1" kern="0" spc="150" dirty="0">
                <a:solidFill>
                  <a:srgbClr val="2E5C72"/>
                </a:solidFill>
                <a:latin typeface="Calibri" pitchFamily="34" charset="0"/>
                <a:ea typeface="Calibri" pitchFamily="34" charset="-122"/>
                <a:cs typeface="Calibri" pitchFamily="34" charset="-120"/>
              </a:rPr>
              <a:t>EV-AWARE</a:t>
            </a:r>
            <a:endParaRPr lang="en-US" sz="950" dirty="0"/>
          </a:p>
        </p:txBody>
      </p:sp>
      <p:sp>
        <p:nvSpPr>
          <p:cNvPr id="24" name="Text 21"/>
          <p:cNvSpPr/>
          <p:nvPr/>
        </p:nvSpPr>
        <p:spPr>
          <a:xfrm>
            <a:off x="768096" y="3968496"/>
            <a:ext cx="3099816" cy="640080"/>
          </a:xfrm>
          <a:prstGeom prst="rect">
            <a:avLst/>
          </a:prstGeom>
          <a:noFill/>
          <a:ln/>
        </p:spPr>
        <p:txBody>
          <a:bodyPr wrap="square" lIns="0" tIns="0" rIns="0" bIns="0" rtlCol="0" anchor="t"/>
          <a:lstStyle/>
          <a:p>
            <a:pPr marL="0" indent="0">
              <a:buNone/>
            </a:pPr>
            <a:r>
              <a:rPr lang="en-US" sz="1600" b="1" dirty="0">
                <a:solidFill>
                  <a:srgbClr val="17384A"/>
                </a:solidFill>
                <a:latin typeface="Georgia" pitchFamily="34" charset="0"/>
                <a:ea typeface="Georgia" pitchFamily="34" charset="-122"/>
                <a:cs typeface="Georgia" pitchFamily="34" charset="-120"/>
              </a:rPr>
              <a:t>Range as it really is</a:t>
            </a:r>
            <a:endParaRPr lang="en-US" sz="1600" dirty="0"/>
          </a:p>
        </p:txBody>
      </p:sp>
      <p:sp>
        <p:nvSpPr>
          <p:cNvPr id="25" name="Text 22"/>
          <p:cNvSpPr/>
          <p:nvPr/>
        </p:nvSpPr>
        <p:spPr>
          <a:xfrm>
            <a:off x="768096" y="4590288"/>
            <a:ext cx="3099816" cy="1097280"/>
          </a:xfrm>
          <a:prstGeom prst="rect">
            <a:avLst/>
          </a:prstGeom>
          <a:noFill/>
          <a:ln/>
        </p:spPr>
        <p:txBody>
          <a:bodyPr wrap="square" lIns="0" tIns="0" rIns="0" bIns="0" rtlCol="0" anchor="t"/>
          <a:lstStyle/>
          <a:p>
            <a:pPr marL="0" indent="0">
              <a:buNone/>
            </a:pPr>
            <a:r>
              <a:rPr lang="en-US" sz="1100" dirty="0">
                <a:solidFill>
                  <a:srgbClr val="16232B"/>
                </a:solidFill>
                <a:latin typeface="Calibri" pitchFamily="34" charset="0"/>
                <a:ea typeface="Calibri" pitchFamily="34" charset="-122"/>
                <a:cs typeface="Calibri" pitchFamily="34" charset="-120"/>
              </a:rPr>
              <a:t>Battery range modelled from stop count and stop-and-go conditions rather than the datasheet figure, with Low Emission Zone access applied as a hard routing constraint.</a:t>
            </a:r>
            <a:endParaRPr lang="en-US" sz="1100" dirty="0"/>
          </a:p>
        </p:txBody>
      </p:sp>
      <p:sp>
        <p:nvSpPr>
          <p:cNvPr id="26" name="Shape 23"/>
          <p:cNvSpPr/>
          <p:nvPr/>
        </p:nvSpPr>
        <p:spPr>
          <a:xfrm>
            <a:off x="4343400" y="3511296"/>
            <a:ext cx="3502152" cy="228600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27" name="Text 24"/>
          <p:cNvSpPr/>
          <p:nvPr/>
        </p:nvSpPr>
        <p:spPr>
          <a:xfrm>
            <a:off x="4544568" y="3694176"/>
            <a:ext cx="3099816" cy="274320"/>
          </a:xfrm>
          <a:prstGeom prst="rect">
            <a:avLst/>
          </a:prstGeom>
          <a:noFill/>
          <a:ln/>
        </p:spPr>
        <p:txBody>
          <a:bodyPr wrap="square" lIns="0" tIns="0" rIns="0" bIns="0" rtlCol="0" anchor="ctr"/>
          <a:lstStyle/>
          <a:p>
            <a:pPr marL="0" indent="0">
              <a:buNone/>
            </a:pPr>
            <a:r>
              <a:rPr lang="en-US" sz="950" b="1" kern="0" spc="150" dirty="0">
                <a:solidFill>
                  <a:srgbClr val="2E5C72"/>
                </a:solidFill>
                <a:latin typeface="Calibri" pitchFamily="34" charset="0"/>
                <a:ea typeface="Calibri" pitchFamily="34" charset="-122"/>
                <a:cs typeface="Calibri" pitchFamily="34" charset="-120"/>
              </a:rPr>
              <a:t>KNOWLEDGE, KEPT</a:t>
            </a:r>
            <a:endParaRPr lang="en-US" sz="950" dirty="0"/>
          </a:p>
        </p:txBody>
      </p:sp>
      <p:sp>
        <p:nvSpPr>
          <p:cNvPr id="28" name="Text 25"/>
          <p:cNvSpPr/>
          <p:nvPr/>
        </p:nvSpPr>
        <p:spPr>
          <a:xfrm>
            <a:off x="4544568" y="3968496"/>
            <a:ext cx="3099816" cy="640080"/>
          </a:xfrm>
          <a:prstGeom prst="rect">
            <a:avLst/>
          </a:prstGeom>
          <a:noFill/>
          <a:ln/>
        </p:spPr>
        <p:txBody>
          <a:bodyPr wrap="square" lIns="0" tIns="0" rIns="0" bIns="0" rtlCol="0" anchor="t"/>
          <a:lstStyle/>
          <a:p>
            <a:pPr marL="0" indent="0">
              <a:buNone/>
            </a:pPr>
            <a:r>
              <a:rPr lang="en-US" sz="1600" b="1" dirty="0">
                <a:solidFill>
                  <a:srgbClr val="17384A"/>
                </a:solidFill>
                <a:latin typeface="Georgia" pitchFamily="34" charset="0"/>
                <a:ea typeface="Georgia" pitchFamily="34" charset="-122"/>
                <a:cs typeface="Georgia" pitchFamily="34" charset="-120"/>
              </a:rPr>
              <a:t>The rules that left with your manager</a:t>
            </a:r>
            <a:endParaRPr lang="en-US" sz="1600" dirty="0"/>
          </a:p>
        </p:txBody>
      </p:sp>
      <p:sp>
        <p:nvSpPr>
          <p:cNvPr id="29" name="Text 26"/>
          <p:cNvSpPr/>
          <p:nvPr/>
        </p:nvSpPr>
        <p:spPr>
          <a:xfrm>
            <a:off x="4544568" y="4590288"/>
            <a:ext cx="3099816" cy="1097280"/>
          </a:xfrm>
          <a:prstGeom prst="rect">
            <a:avLst/>
          </a:prstGeom>
          <a:noFill/>
          <a:ln/>
        </p:spPr>
        <p:txBody>
          <a:bodyPr wrap="square" lIns="0" tIns="0" rIns="0" bIns="0" rtlCol="0" anchor="t"/>
          <a:lstStyle/>
          <a:p>
            <a:pPr marL="0" indent="0">
              <a:buNone/>
            </a:pPr>
            <a:r>
              <a:rPr lang="en-US" sz="1100" dirty="0">
                <a:solidFill>
                  <a:srgbClr val="16232B"/>
                </a:solidFill>
                <a:latin typeface="Calibri" pitchFamily="34" charset="0"/>
                <a:ea typeface="Calibri" pitchFamily="34" charset="-122"/>
                <a:cs typeface="Calibri" pitchFamily="34" charset="-120"/>
              </a:rPr>
              <a:t>Access constraints, awkward buildings and reliable timings mined from historic routes and from every planner correction — so tomorrow's departure does not depend on one person's memory.</a:t>
            </a:r>
            <a:endParaRPr lang="en-US" sz="1100" dirty="0"/>
          </a:p>
        </p:txBody>
      </p:sp>
      <p:sp>
        <p:nvSpPr>
          <p:cNvPr id="30" name="Shape 27"/>
          <p:cNvSpPr/>
          <p:nvPr/>
        </p:nvSpPr>
        <p:spPr>
          <a:xfrm>
            <a:off x="8119872" y="3511296"/>
            <a:ext cx="3502152" cy="2286000"/>
          </a:xfrm>
          <a:prstGeom prst="rect">
            <a:avLst/>
          </a:prstGeom>
          <a:solidFill>
            <a:srgbClr val="17384A"/>
          </a:solidFill>
          <a:ln/>
          <a:effectLst>
            <a:outerShdw blurRad="88900" dist="38100" dir="8100000" algn="bl" rotWithShape="0">
              <a:srgbClr val="1C2440">
                <a:alpha val="13000"/>
              </a:srgbClr>
            </a:outerShdw>
          </a:effectLst>
        </p:spPr>
        <p:txBody>
          <a:bodyPr/>
          <a:lstStyle/>
          <a:p>
            <a:endParaRPr lang="en-US"/>
          </a:p>
        </p:txBody>
      </p:sp>
      <p:sp>
        <p:nvSpPr>
          <p:cNvPr id="31" name="Text 28"/>
          <p:cNvSpPr/>
          <p:nvPr/>
        </p:nvSpPr>
        <p:spPr>
          <a:xfrm>
            <a:off x="8321040" y="3694176"/>
            <a:ext cx="3099816" cy="274320"/>
          </a:xfrm>
          <a:prstGeom prst="rect">
            <a:avLst/>
          </a:prstGeom>
          <a:noFill/>
          <a:ln/>
        </p:spPr>
        <p:txBody>
          <a:bodyPr wrap="square" lIns="0" tIns="0" rIns="0" bIns="0" rtlCol="0" anchor="ctr"/>
          <a:lstStyle/>
          <a:p>
            <a:pPr marL="0" indent="0">
              <a:buNone/>
            </a:pPr>
            <a:r>
              <a:rPr lang="en-US" sz="950" b="1" kern="0" spc="150" dirty="0">
                <a:solidFill>
                  <a:srgbClr val="D97706"/>
                </a:solidFill>
                <a:latin typeface="Calibri" pitchFamily="34" charset="0"/>
                <a:ea typeface="Calibri" pitchFamily="34" charset="-122"/>
                <a:cs typeface="Calibri" pitchFamily="34" charset="-120"/>
              </a:rPr>
              <a:t>HUMAN LAST WORD</a:t>
            </a:r>
            <a:endParaRPr lang="en-US" sz="950" dirty="0"/>
          </a:p>
        </p:txBody>
      </p:sp>
      <p:sp>
        <p:nvSpPr>
          <p:cNvPr id="32" name="Text 29"/>
          <p:cNvSpPr/>
          <p:nvPr/>
        </p:nvSpPr>
        <p:spPr>
          <a:xfrm>
            <a:off x="8321040" y="3968496"/>
            <a:ext cx="3099816" cy="640080"/>
          </a:xfrm>
          <a:prstGeom prst="rect">
            <a:avLst/>
          </a:prstGeom>
          <a:noFill/>
          <a:ln/>
        </p:spPr>
        <p:txBody>
          <a:bodyPr wrap="square" lIns="0" tIns="0" rIns="0" bIns="0" rtlCol="0" anchor="t"/>
          <a:lstStyle/>
          <a:p>
            <a:pPr marL="0" indent="0">
              <a:buNone/>
            </a:pPr>
            <a:r>
              <a:rPr lang="en-US" sz="1600" b="1" dirty="0">
                <a:solidFill>
                  <a:srgbClr val="FFFFFF"/>
                </a:solidFill>
                <a:latin typeface="Georgia" pitchFamily="34" charset="0"/>
                <a:ea typeface="Georgia" pitchFamily="34" charset="-122"/>
                <a:cs typeface="Georgia" pitchFamily="34" charset="-120"/>
              </a:rPr>
              <a:t>Proposed, never imposed</a:t>
            </a:r>
            <a:endParaRPr lang="en-US" sz="1600" dirty="0"/>
          </a:p>
        </p:txBody>
      </p:sp>
      <p:sp>
        <p:nvSpPr>
          <p:cNvPr id="33" name="Text 30"/>
          <p:cNvSpPr/>
          <p:nvPr/>
        </p:nvSpPr>
        <p:spPr>
          <a:xfrm>
            <a:off x="8321040" y="4590288"/>
            <a:ext cx="3099816" cy="1097280"/>
          </a:xfrm>
          <a:prstGeom prst="rect">
            <a:avLst/>
          </a:prstGeom>
          <a:noFill/>
          <a:ln/>
        </p:spPr>
        <p:txBody>
          <a:bodyPr wrap="square" lIns="0" tIns="0" rIns="0" bIns="0" rtlCol="0" anchor="t"/>
          <a:lstStyle/>
          <a:p>
            <a:pPr marL="0" indent="0">
              <a:buNone/>
            </a:pPr>
            <a:r>
              <a:rPr lang="en-US" sz="1100" dirty="0">
                <a:solidFill>
                  <a:srgbClr val="FFFFFF"/>
                </a:solidFill>
                <a:latin typeface="Calibri" pitchFamily="34" charset="0"/>
                <a:ea typeface="Calibri" pitchFamily="34" charset="-122"/>
                <a:cs typeface="Calibri" pitchFamily="34" charset="-120"/>
              </a:rPr>
              <a:t>The planner accepts, edits or rejects. Every override is captured and improves the next proposal. Nothing dispatches without a person having seen 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03 — One picture of the day, without surveillance</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You asked us not to build a tracking system. We are not — we are standardising five events.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9</a:t>
            </a:r>
            <a:endParaRPr lang="en-US" sz="850" dirty="0"/>
          </a:p>
        </p:txBody>
      </p:sp>
      <p:sp>
        <p:nvSpPr>
          <p:cNvPr id="12" name="Shape 9"/>
          <p:cNvSpPr/>
          <p:nvPr/>
        </p:nvSpPr>
        <p:spPr>
          <a:xfrm>
            <a:off x="566928" y="2395728"/>
            <a:ext cx="5527548" cy="329184"/>
          </a:xfrm>
          <a:prstGeom prst="rect">
            <a:avLst/>
          </a:prstGeom>
          <a:solidFill>
            <a:srgbClr val="17384A"/>
          </a:solidFill>
          <a:ln/>
        </p:spPr>
        <p:txBody>
          <a:bodyPr/>
          <a:lstStyle/>
          <a:p>
            <a:endParaRPr lang="en-US"/>
          </a:p>
        </p:txBody>
      </p:sp>
      <p:sp>
        <p:nvSpPr>
          <p:cNvPr id="13" name="Text 10"/>
          <p:cNvSpPr/>
          <p:nvPr/>
        </p:nvSpPr>
        <p:spPr>
          <a:xfrm>
            <a:off x="713232" y="2395728"/>
            <a:ext cx="5253228" cy="329184"/>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Departed hub  ·  timestamp, route, vehicle</a:t>
            </a:r>
            <a:endParaRPr lang="en-US" sz="1050" dirty="0"/>
          </a:p>
        </p:txBody>
      </p:sp>
      <p:sp>
        <p:nvSpPr>
          <p:cNvPr id="14" name="Shape 11"/>
          <p:cNvSpPr/>
          <p:nvPr/>
        </p:nvSpPr>
        <p:spPr>
          <a:xfrm>
            <a:off x="676656" y="2793492"/>
            <a:ext cx="5417820" cy="329184"/>
          </a:xfrm>
          <a:prstGeom prst="rect">
            <a:avLst/>
          </a:prstGeom>
          <a:solidFill>
            <a:srgbClr val="17384A">
              <a:alpha val="94000"/>
            </a:srgbClr>
          </a:solidFill>
          <a:ln/>
        </p:spPr>
        <p:txBody>
          <a:bodyPr/>
          <a:lstStyle/>
          <a:p>
            <a:endParaRPr lang="en-US"/>
          </a:p>
        </p:txBody>
      </p:sp>
      <p:sp>
        <p:nvSpPr>
          <p:cNvPr id="15" name="Text 12"/>
          <p:cNvSpPr/>
          <p:nvPr/>
        </p:nvSpPr>
        <p:spPr>
          <a:xfrm>
            <a:off x="822960" y="2793492"/>
            <a:ext cx="5143500" cy="329184"/>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Arrived at stop  ·  timestamp at the delivery point</a:t>
            </a:r>
            <a:endParaRPr lang="en-US" sz="1050" dirty="0"/>
          </a:p>
        </p:txBody>
      </p:sp>
      <p:sp>
        <p:nvSpPr>
          <p:cNvPr id="16" name="Shape 13"/>
          <p:cNvSpPr/>
          <p:nvPr/>
        </p:nvSpPr>
        <p:spPr>
          <a:xfrm>
            <a:off x="786384" y="3191256"/>
            <a:ext cx="5308092" cy="329184"/>
          </a:xfrm>
          <a:prstGeom prst="rect">
            <a:avLst/>
          </a:prstGeom>
          <a:solidFill>
            <a:srgbClr val="17384A">
              <a:alpha val="88000"/>
            </a:srgbClr>
          </a:solidFill>
          <a:ln/>
        </p:spPr>
        <p:txBody>
          <a:bodyPr/>
          <a:lstStyle/>
          <a:p>
            <a:endParaRPr lang="en-US"/>
          </a:p>
        </p:txBody>
      </p:sp>
      <p:sp>
        <p:nvSpPr>
          <p:cNvPr id="17" name="Text 14"/>
          <p:cNvSpPr/>
          <p:nvPr/>
        </p:nvSpPr>
        <p:spPr>
          <a:xfrm>
            <a:off x="932688" y="3191256"/>
            <a:ext cx="5033772" cy="329184"/>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Delivered  ·  proof of delivery</a:t>
            </a:r>
            <a:endParaRPr lang="en-US" sz="1050" dirty="0"/>
          </a:p>
        </p:txBody>
      </p:sp>
      <p:sp>
        <p:nvSpPr>
          <p:cNvPr id="18" name="Shape 15"/>
          <p:cNvSpPr/>
          <p:nvPr/>
        </p:nvSpPr>
        <p:spPr>
          <a:xfrm>
            <a:off x="896112" y="3589020"/>
            <a:ext cx="5198364" cy="329184"/>
          </a:xfrm>
          <a:prstGeom prst="rect">
            <a:avLst/>
          </a:prstGeom>
          <a:solidFill>
            <a:srgbClr val="17384A">
              <a:alpha val="82000"/>
            </a:srgbClr>
          </a:solidFill>
          <a:ln/>
        </p:spPr>
        <p:txBody>
          <a:bodyPr/>
          <a:lstStyle/>
          <a:p>
            <a:endParaRPr lang="en-US"/>
          </a:p>
        </p:txBody>
      </p:sp>
      <p:sp>
        <p:nvSpPr>
          <p:cNvPr id="19" name="Text 16"/>
          <p:cNvSpPr/>
          <p:nvPr/>
        </p:nvSpPr>
        <p:spPr>
          <a:xfrm>
            <a:off x="1042416" y="3589020"/>
            <a:ext cx="4924044" cy="329184"/>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Not delivered  ·  reason code (absent, access, refused, damaged)</a:t>
            </a:r>
            <a:endParaRPr lang="en-US" sz="1050" dirty="0"/>
          </a:p>
        </p:txBody>
      </p:sp>
      <p:sp>
        <p:nvSpPr>
          <p:cNvPr id="20" name="Shape 17"/>
          <p:cNvSpPr/>
          <p:nvPr/>
        </p:nvSpPr>
        <p:spPr>
          <a:xfrm>
            <a:off x="1005840" y="3986784"/>
            <a:ext cx="5088636" cy="329184"/>
          </a:xfrm>
          <a:prstGeom prst="rect">
            <a:avLst/>
          </a:prstGeom>
          <a:solidFill>
            <a:srgbClr val="17384A">
              <a:alpha val="76000"/>
            </a:srgbClr>
          </a:solidFill>
          <a:ln/>
        </p:spPr>
        <p:txBody>
          <a:bodyPr/>
          <a:lstStyle/>
          <a:p>
            <a:endParaRPr lang="en-US"/>
          </a:p>
        </p:txBody>
      </p:sp>
      <p:sp>
        <p:nvSpPr>
          <p:cNvPr id="21" name="Text 18"/>
          <p:cNvSpPr/>
          <p:nvPr/>
        </p:nvSpPr>
        <p:spPr>
          <a:xfrm>
            <a:off x="1152144" y="3986784"/>
            <a:ext cx="4814316" cy="329184"/>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Route complete  ·  return to hub</a:t>
            </a:r>
            <a:endParaRPr lang="en-US" sz="1050" dirty="0"/>
          </a:p>
        </p:txBody>
      </p:sp>
      <p:sp>
        <p:nvSpPr>
          <p:cNvPr id="22" name="Shape 19"/>
          <p:cNvSpPr/>
          <p:nvPr/>
        </p:nvSpPr>
        <p:spPr>
          <a:xfrm>
            <a:off x="6405372" y="2395728"/>
            <a:ext cx="5216652" cy="237744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23" name="Text 20"/>
          <p:cNvSpPr/>
          <p:nvPr/>
        </p:nvSpPr>
        <p:spPr>
          <a:xfrm>
            <a:off x="6624828" y="2542032"/>
            <a:ext cx="4759452" cy="310896"/>
          </a:xfrm>
          <a:prstGeom prst="rect">
            <a:avLst/>
          </a:prstGeom>
          <a:noFill/>
          <a:ln/>
        </p:spPr>
        <p:txBody>
          <a:bodyPr wrap="square" lIns="0" tIns="0" rIns="0" bIns="0" rtlCol="0" anchor="ctr"/>
          <a:lstStyle/>
          <a:p>
            <a:pPr marL="0" indent="0">
              <a:buNone/>
            </a:pPr>
            <a:r>
              <a:rPr lang="en-US" sz="1100" dirty="0">
                <a:solidFill>
                  <a:srgbClr val="D97706"/>
                </a:solidFill>
                <a:latin typeface="Calibri" pitchFamily="34" charset="0"/>
                <a:ea typeface="Calibri" pitchFamily="34" charset="-122"/>
                <a:cs typeface="Calibri" pitchFamily="34" charset="-120"/>
              </a:rPr>
              <a:t>■ </a:t>
            </a:r>
            <a:r>
              <a:rPr lang="en-US" sz="1300" b="1" dirty="0">
                <a:solidFill>
                  <a:srgbClr val="17384A"/>
                </a:solidFill>
                <a:latin typeface="Calibri" pitchFamily="34" charset="0"/>
                <a:ea typeface="Calibri" pitchFamily="34" charset="-122"/>
                <a:cs typeface="Calibri" pitchFamily="34" charset="-120"/>
              </a:rPr>
              <a:t>Why this stays inside GDPR</a:t>
            </a:r>
            <a:endParaRPr lang="en-US" sz="1100" dirty="0"/>
          </a:p>
        </p:txBody>
      </p:sp>
      <p:sp>
        <p:nvSpPr>
          <p:cNvPr id="24" name="Text 21"/>
          <p:cNvSpPr/>
          <p:nvPr/>
        </p:nvSpPr>
        <p:spPr>
          <a:xfrm>
            <a:off x="6624828" y="2907792"/>
            <a:ext cx="4759452" cy="1719072"/>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Event-based, not continuous GPS. Location is captured at the stop, not all day long.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same five events from employed and freelance drivers — one app screen, one contract clause.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No driver scoring, no league table, no automated performance or disciplinary record.</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Role-based access, so each corporate client's data stays inside its own confidentiality boundary.</a:t>
            </a:r>
            <a:endParaRPr lang="en-US" sz="1100" dirty="0"/>
          </a:p>
        </p:txBody>
      </p:sp>
      <p:sp>
        <p:nvSpPr>
          <p:cNvPr id="25" name="Shape 22"/>
          <p:cNvSpPr/>
          <p:nvPr/>
        </p:nvSpPr>
        <p:spPr>
          <a:xfrm>
            <a:off x="566928" y="5102352"/>
            <a:ext cx="11055096" cy="676656"/>
          </a:xfrm>
          <a:prstGeom prst="rect">
            <a:avLst/>
          </a:prstGeom>
          <a:solidFill>
            <a:srgbClr val="EAF2F5"/>
          </a:solidFill>
          <a:ln/>
        </p:spPr>
        <p:txBody>
          <a:bodyPr/>
          <a:lstStyle/>
          <a:p>
            <a:endParaRPr lang="en-US"/>
          </a:p>
        </p:txBody>
      </p:sp>
      <p:sp>
        <p:nvSpPr>
          <p:cNvPr id="26" name="Shape 23"/>
          <p:cNvSpPr/>
          <p:nvPr/>
        </p:nvSpPr>
        <p:spPr>
          <a:xfrm>
            <a:off x="566928" y="5102352"/>
            <a:ext cx="82296" cy="676656"/>
          </a:xfrm>
          <a:prstGeom prst="rect">
            <a:avLst/>
          </a:prstGeom>
          <a:solidFill>
            <a:srgbClr val="D97706"/>
          </a:solidFill>
          <a:ln/>
        </p:spPr>
        <p:txBody>
          <a:bodyPr/>
          <a:lstStyle/>
          <a:p>
            <a:endParaRPr lang="en-US"/>
          </a:p>
        </p:txBody>
      </p:sp>
      <p:sp>
        <p:nvSpPr>
          <p:cNvPr id="27" name="Text 24"/>
          <p:cNvSpPr/>
          <p:nvPr/>
        </p:nvSpPr>
        <p:spPr>
          <a:xfrm>
            <a:off x="822960" y="5102352"/>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IN YOUR WORDS   </a:t>
            </a:r>
            <a:r>
              <a:rPr lang="en-US" sz="1200" i="1" dirty="0">
                <a:solidFill>
                  <a:srgbClr val="16232B"/>
                </a:solidFill>
                <a:latin typeface="Calibri" pitchFamily="34" charset="0"/>
                <a:ea typeface="Calibri" pitchFamily="34" charset="-122"/>
                <a:cs typeface="Calibri" pitchFamily="34" charset="-120"/>
              </a:rPr>
              <a:t>“Driver data is also sensitive, especially if we start talking about continuous GPS tracking… Some employees could see that as surveillance.”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What we are deliberately not doing</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Scope discipline is how this runs beside live operations instead of interrupting them.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10</a:t>
            </a:r>
            <a:endParaRPr lang="en-US" sz="850" dirty="0"/>
          </a:p>
        </p:txBody>
      </p:sp>
      <p:sp>
        <p:nvSpPr>
          <p:cNvPr id="12" name="Shape 9"/>
          <p:cNvSpPr/>
          <p:nvPr/>
        </p:nvSpPr>
        <p:spPr>
          <a:xfrm>
            <a:off x="566928" y="2395728"/>
            <a:ext cx="5390388" cy="274320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13" name="Shape 10"/>
          <p:cNvSpPr/>
          <p:nvPr/>
        </p:nvSpPr>
        <p:spPr>
          <a:xfrm>
            <a:off x="566928" y="2395728"/>
            <a:ext cx="5390388" cy="457200"/>
          </a:xfrm>
          <a:prstGeom prst="rect">
            <a:avLst/>
          </a:prstGeom>
          <a:solidFill>
            <a:srgbClr val="17384A"/>
          </a:solidFill>
          <a:ln/>
        </p:spPr>
        <p:txBody>
          <a:bodyPr/>
          <a:lstStyle/>
          <a:p>
            <a:endParaRPr lang="en-US"/>
          </a:p>
        </p:txBody>
      </p:sp>
      <p:sp>
        <p:nvSpPr>
          <p:cNvPr id="14" name="Text 11"/>
          <p:cNvSpPr/>
          <p:nvPr/>
        </p:nvSpPr>
        <p:spPr>
          <a:xfrm>
            <a:off x="768096" y="2395728"/>
            <a:ext cx="5024628" cy="457200"/>
          </a:xfrm>
          <a:prstGeom prst="rect">
            <a:avLst/>
          </a:prstGeom>
          <a:noFill/>
          <a:ln/>
        </p:spPr>
        <p:txBody>
          <a:bodyPr wrap="square" lIns="0" tIns="0" rIns="0" bIns="0" rtlCol="0" anchor="ctr"/>
          <a:lstStyle/>
          <a:p>
            <a:pPr marL="0" indent="0">
              <a:buNone/>
            </a:pPr>
            <a:r>
              <a:rPr lang="en-US" sz="1300" b="1" kern="0" spc="200" dirty="0">
                <a:solidFill>
                  <a:srgbClr val="FFFFFF"/>
                </a:solidFill>
                <a:latin typeface="Calibri" pitchFamily="34" charset="0"/>
                <a:ea typeface="Calibri" pitchFamily="34" charset="-122"/>
                <a:cs typeface="Calibri" pitchFamily="34" charset="-120"/>
              </a:rPr>
              <a:t>IN SCOPE</a:t>
            </a:r>
            <a:endParaRPr lang="en-US" sz="1300" dirty="0"/>
          </a:p>
        </p:txBody>
      </p:sp>
      <p:sp>
        <p:nvSpPr>
          <p:cNvPr id="15" name="Text 12"/>
          <p:cNvSpPr/>
          <p:nvPr/>
        </p:nvSpPr>
        <p:spPr>
          <a:xfrm>
            <a:off x="768096"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Address quality, first-attempt risk and a published delivery window.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An overnight route proposal your planners review, edit and own.</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Five standardised delivery events and one shared intraday view.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Read-only integration with the exports your ERP and TMS already produce.</a:t>
            </a:r>
            <a:endParaRPr lang="en-US" sz="1150" dirty="0"/>
          </a:p>
        </p:txBody>
      </p:sp>
      <p:sp>
        <p:nvSpPr>
          <p:cNvPr id="16" name="Shape 13"/>
          <p:cNvSpPr/>
          <p:nvPr/>
        </p:nvSpPr>
        <p:spPr>
          <a:xfrm>
            <a:off x="6231636" y="2395728"/>
            <a:ext cx="5390388" cy="274320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17" name="Shape 14"/>
          <p:cNvSpPr/>
          <p:nvPr/>
        </p:nvSpPr>
        <p:spPr>
          <a:xfrm>
            <a:off x="6231636" y="2395728"/>
            <a:ext cx="5390388" cy="457200"/>
          </a:xfrm>
          <a:prstGeom prst="rect">
            <a:avLst/>
          </a:prstGeom>
          <a:solidFill>
            <a:srgbClr val="D97706"/>
          </a:solidFill>
          <a:ln/>
        </p:spPr>
        <p:txBody>
          <a:bodyPr/>
          <a:lstStyle/>
          <a:p>
            <a:endParaRPr lang="en-US"/>
          </a:p>
        </p:txBody>
      </p:sp>
      <p:sp>
        <p:nvSpPr>
          <p:cNvPr id="18" name="Text 15"/>
          <p:cNvSpPr/>
          <p:nvPr/>
        </p:nvSpPr>
        <p:spPr>
          <a:xfrm>
            <a:off x="6432804" y="2395728"/>
            <a:ext cx="5024628" cy="457200"/>
          </a:xfrm>
          <a:prstGeom prst="rect">
            <a:avLst/>
          </a:prstGeom>
          <a:noFill/>
          <a:ln/>
        </p:spPr>
        <p:txBody>
          <a:bodyPr wrap="square" lIns="0" tIns="0" rIns="0" bIns="0" rtlCol="0" anchor="ctr"/>
          <a:lstStyle/>
          <a:p>
            <a:pPr marL="0" indent="0">
              <a:buNone/>
            </a:pPr>
            <a:r>
              <a:rPr lang="en-US" sz="1300" b="1" kern="0" spc="200" dirty="0">
                <a:solidFill>
                  <a:srgbClr val="0F1F2B"/>
                </a:solidFill>
                <a:latin typeface="Calibri" pitchFamily="34" charset="0"/>
                <a:ea typeface="Calibri" pitchFamily="34" charset="-122"/>
                <a:cs typeface="Calibri" pitchFamily="34" charset="-120"/>
              </a:rPr>
              <a:t>OUT OF SCOPE, ON PURPOSE</a:t>
            </a:r>
            <a:endParaRPr lang="en-US" sz="1300" dirty="0"/>
          </a:p>
        </p:txBody>
      </p:sp>
      <p:sp>
        <p:nvSpPr>
          <p:cNvPr id="19" name="Text 16"/>
          <p:cNvSpPr/>
          <p:nvPr/>
        </p:nvSpPr>
        <p:spPr>
          <a:xfrm>
            <a:off x="6432804"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ERP replacement and no migration. The existing system stays exactly where it is.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continuous GPS tracking, driver scoring or automated disciplinary decisions.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system altering a customer commitment without a named person approving it.</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warehouse automation, and no change to the night consolidation process.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pilot activity during Black Friday or the Christmas peak.</a:t>
            </a:r>
            <a:endParaRPr lang="en-US" sz="1150" dirty="0"/>
          </a:p>
        </p:txBody>
      </p:sp>
      <p:sp>
        <p:nvSpPr>
          <p:cNvPr id="20" name="Shape 17"/>
          <p:cNvSpPr/>
          <p:nvPr/>
        </p:nvSpPr>
        <p:spPr>
          <a:xfrm>
            <a:off x="566928" y="5413248"/>
            <a:ext cx="11055096" cy="676656"/>
          </a:xfrm>
          <a:prstGeom prst="rect">
            <a:avLst/>
          </a:prstGeom>
          <a:solidFill>
            <a:srgbClr val="EAF2F5"/>
          </a:solidFill>
          <a:ln/>
        </p:spPr>
        <p:txBody>
          <a:bodyPr/>
          <a:lstStyle/>
          <a:p>
            <a:endParaRPr lang="en-US"/>
          </a:p>
        </p:txBody>
      </p:sp>
      <p:sp>
        <p:nvSpPr>
          <p:cNvPr id="21" name="Shape 18"/>
          <p:cNvSpPr/>
          <p:nvPr/>
        </p:nvSpPr>
        <p:spPr>
          <a:xfrm>
            <a:off x="566928" y="5413248"/>
            <a:ext cx="82296" cy="676656"/>
          </a:xfrm>
          <a:prstGeom prst="rect">
            <a:avLst/>
          </a:prstGeom>
          <a:solidFill>
            <a:srgbClr val="D97706"/>
          </a:solidFill>
          <a:ln/>
        </p:spPr>
        <p:txBody>
          <a:bodyPr/>
          <a:lstStyle/>
          <a:p>
            <a:endParaRPr lang="en-US"/>
          </a:p>
        </p:txBody>
      </p:sp>
      <p:sp>
        <p:nvSpPr>
          <p:cNvPr id="22" name="Text 19"/>
          <p:cNvSpPr/>
          <p:nvPr/>
        </p:nvSpPr>
        <p:spPr>
          <a:xfrm>
            <a:off x="822960" y="541324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YOUR CONSTRAINT, HONOURED   </a:t>
            </a:r>
            <a:r>
              <a:rPr lang="en-US" sz="1200" dirty="0">
                <a:solidFill>
                  <a:srgbClr val="16232B"/>
                </a:solidFill>
                <a:latin typeface="Calibri" pitchFamily="34" charset="0"/>
                <a:ea typeface="Calibri" pitchFamily="34" charset="-122"/>
                <a:cs typeface="Calibri" pitchFamily="34" charset="-120"/>
              </a:rPr>
              <a:t>“We cannot stop operations to implement something new.” Nothing in this proposal requires you to.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How you would know it worked</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Measured on the things you already watch — nothing new invented for the report.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11</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3108960"/>
        </p:xfrm>
        <a:graphic>
          <a:graphicData uri="http://schemas.openxmlformats.org/drawingml/2006/table">
            <a:tbl>
              <a:tblPr/>
              <a:tblGrid>
                <a:gridCol w="5253228">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253228">
                  <a:extLst>
                    <a:ext uri="{9D8B030D-6E8A-4147-A177-3AD203B41FA5}">
                      <a16:colId xmlns:a16="http://schemas.microsoft.com/office/drawing/2014/main" val="20002"/>
                    </a:ext>
                  </a:extLst>
                </a:gridCol>
              </a:tblGrid>
              <a:tr h="365760">
                <a:tc>
                  <a:txBody>
                    <a:bodyPr/>
                    <a:lstStyle/>
                    <a:p>
                      <a:pPr marL="0" indent="0">
                        <a:buNone/>
                      </a:pPr>
                      <a:r>
                        <a:rPr lang="en-US" sz="1150" b="1" kern="0" spc="100" dirty="0">
                          <a:solidFill>
                            <a:srgbClr val="FFFFFF"/>
                          </a:solidFill>
                        </a:rPr>
                        <a:t>TODAY, IN THE PILOT ZONE</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marL="0" indent="0">
                        <a:buNone/>
                      </a:pPr>
                      <a:endParaRPr lang="en-US" sz="12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marL="0" indent="0">
                        <a:buNone/>
                      </a:pPr>
                      <a:r>
                        <a:rPr lang="en-US" sz="1150" b="1" kern="0" spc="100" dirty="0">
                          <a:solidFill>
                            <a:srgbClr val="0F1F2B"/>
                          </a:solidFill>
                        </a:rPr>
                        <a:t>TARGET AT WEEK 8</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extLst>
                  <a:ext uri="{0D108BD9-81ED-4DB2-BD59-A6C34878D82A}">
                    <a16:rowId xmlns:a16="http://schemas.microsoft.com/office/drawing/2014/main" val="10000"/>
                  </a:ext>
                </a:extLst>
              </a:tr>
              <a:tr h="457200">
                <a:tc>
                  <a:txBody>
                    <a:bodyPr/>
                    <a:lstStyle/>
                    <a:p>
                      <a:pPr marL="0" indent="0">
                        <a:buNone/>
                      </a:pPr>
                      <a:r>
                        <a:rPr lang="en-US" sz="1080" dirty="0">
                          <a:solidFill>
                            <a:srgbClr val="16232B"/>
                          </a:solidFill>
                        </a:rPr>
                        <a:t>First-attempt delivery success: 86–88%</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80" b="1" dirty="0">
                          <a:solidFill>
                            <a:srgbClr val="17384A"/>
                          </a:solidFill>
                        </a:rPr>
                        <a:t>93% or better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extLst>
                  <a:ext uri="{0D108BD9-81ED-4DB2-BD59-A6C34878D82A}">
                    <a16:rowId xmlns:a16="http://schemas.microsoft.com/office/drawing/2014/main" val="10001"/>
                  </a:ext>
                </a:extLst>
              </a:tr>
              <a:tr h="457200">
                <a:tc>
                  <a:txBody>
                    <a:bodyPr/>
                    <a:lstStyle/>
                    <a:p>
                      <a:pPr marL="0" indent="0">
                        <a:buNone/>
                      </a:pPr>
                      <a:r>
                        <a:rPr lang="en-US" sz="1080" dirty="0">
                          <a:solidFill>
                            <a:srgbClr val="16232B"/>
                          </a:solidFill>
                        </a:rPr>
                        <a:t>Planning still being adjusted at the departure slot</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80" b="1" dirty="0">
                          <a:solidFill>
                            <a:srgbClr val="17384A"/>
                          </a:solidFill>
                        </a:rPr>
                        <a:t>Plan locked 45 minutes before departure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extLst>
                  <a:ext uri="{0D108BD9-81ED-4DB2-BD59-A6C34878D82A}">
                    <a16:rowId xmlns:a16="http://schemas.microsoft.com/office/drawing/2014/main" val="10002"/>
                  </a:ext>
                </a:extLst>
              </a:tr>
              <a:tr h="457200">
                <a:tc>
                  <a:txBody>
                    <a:bodyPr/>
                    <a:lstStyle/>
                    <a:p>
                      <a:pPr marL="0" indent="0">
                        <a:buNone/>
                      </a:pPr>
                      <a:r>
                        <a:rPr lang="en-US" sz="1080" dirty="0">
                          <a:solidFill>
                            <a:srgbClr val="16232B"/>
                          </a:solidFill>
                        </a:rPr>
                        <a:t>Route building absorbs the planner's morning</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80" b="1" dirty="0">
                          <a:solidFill>
                            <a:srgbClr val="17384A"/>
                          </a:solidFill>
                        </a:rPr>
                        <a:t>40% less planner time spent building routes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extLst>
                  <a:ext uri="{0D108BD9-81ED-4DB2-BD59-A6C34878D82A}">
                    <a16:rowId xmlns:a16="http://schemas.microsoft.com/office/drawing/2014/main" val="10003"/>
                  </a:ext>
                </a:extLst>
              </a:tr>
              <a:tr h="457200">
                <a:tc>
                  <a:txBody>
                    <a:bodyPr/>
                    <a:lstStyle/>
                    <a:p>
                      <a:pPr marL="0" indent="0">
                        <a:buNone/>
                      </a:pPr>
                      <a:r>
                        <a:rPr lang="en-US" sz="1080" dirty="0">
                          <a:solidFill>
                            <a:srgbClr val="16232B"/>
                          </a:solidFill>
                        </a:rPr>
                        <a:t>Kilometres per delivery, unmeasured against plan</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80" b="1" dirty="0">
                          <a:solidFill>
                            <a:srgbClr val="17384A"/>
                          </a:solidFill>
                        </a:rPr>
                        <a:t>Tracked and falling on a like-for-like order mix</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extLst>
                  <a:ext uri="{0D108BD9-81ED-4DB2-BD59-A6C34878D82A}">
                    <a16:rowId xmlns:a16="http://schemas.microsoft.com/office/drawing/2014/main" val="10004"/>
                  </a:ext>
                </a:extLst>
              </a:tr>
              <a:tr h="457200">
                <a:tc>
                  <a:txBody>
                    <a:bodyPr/>
                    <a:lstStyle/>
                    <a:p>
                      <a:pPr marL="0" indent="0">
                        <a:buNone/>
                      </a:pPr>
                      <a:r>
                        <a:rPr lang="en-US" sz="1080" dirty="0">
                          <a:solidFill>
                            <a:srgbClr val="16232B"/>
                          </a:solidFill>
                        </a:rPr>
                        <a:t>“Where is my parcel?” escalates to traffic, then the driver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80" b="1" dirty="0">
                          <a:solidFill>
                            <a:srgbClr val="17384A"/>
                          </a:solidFill>
                        </a:rPr>
                        <a:t>Answered by customer service at first line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extLst>
                  <a:ext uri="{0D108BD9-81ED-4DB2-BD59-A6C34878D82A}">
                    <a16:rowId xmlns:a16="http://schemas.microsoft.com/office/drawing/2014/main" val="10005"/>
                  </a:ext>
                </a:extLst>
              </a:tr>
              <a:tr h="457200">
                <a:tc>
                  <a:txBody>
                    <a:bodyPr/>
                    <a:lstStyle/>
                    <a:p>
                      <a:pPr marL="0" indent="0">
                        <a:buNone/>
                      </a:pPr>
                      <a:r>
                        <a:rPr lang="en-US" sz="1080" dirty="0">
                          <a:solidFill>
                            <a:srgbClr val="16232B"/>
                          </a:solidFill>
                        </a:rPr>
                        <a:t>SLA penalties on two major B2C accounts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80" b="1" dirty="0">
                          <a:solidFill>
                            <a:srgbClr val="17384A"/>
                          </a:solidFill>
                        </a:rPr>
                        <a:t>Zero penalty incidents in the pilot zone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The pilot: eight weeks, one zone</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Nothing stops. The system runs in shadow before it runs for real.</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12</a:t>
            </a:r>
            <a:endParaRPr lang="en-US" sz="850" dirty="0"/>
          </a:p>
        </p:txBody>
      </p:sp>
      <p:sp>
        <p:nvSpPr>
          <p:cNvPr id="12" name="Shape 9"/>
          <p:cNvSpPr/>
          <p:nvPr/>
        </p:nvSpPr>
        <p:spPr>
          <a:xfrm>
            <a:off x="1880235" y="2779776"/>
            <a:ext cx="8428482" cy="0"/>
          </a:xfrm>
          <a:prstGeom prst="line">
            <a:avLst/>
          </a:prstGeom>
          <a:noFill/>
          <a:ln w="25400">
            <a:solidFill>
              <a:srgbClr val="CFE0E7"/>
            </a:solidFill>
            <a:prstDash val="solid"/>
          </a:ln>
        </p:spPr>
        <p:txBody>
          <a:bodyPr/>
          <a:lstStyle/>
          <a:p>
            <a:endParaRPr lang="en-US"/>
          </a:p>
        </p:txBody>
      </p:sp>
      <p:sp>
        <p:nvSpPr>
          <p:cNvPr id="13" name="Shape 10"/>
          <p:cNvSpPr/>
          <p:nvPr/>
        </p:nvSpPr>
        <p:spPr>
          <a:xfrm>
            <a:off x="1496187" y="2395728"/>
            <a:ext cx="768096" cy="768096"/>
          </a:xfrm>
          <a:prstGeom prst="ellipse">
            <a:avLst/>
          </a:prstGeom>
          <a:solidFill>
            <a:srgbClr val="D97706"/>
          </a:solidFill>
          <a:ln w="31750">
            <a:solidFill>
              <a:srgbClr val="FFFFFF"/>
            </a:solidFill>
            <a:prstDash val="solid"/>
          </a:ln>
        </p:spPr>
        <p:txBody>
          <a:bodyPr/>
          <a:lstStyle/>
          <a:p>
            <a:endParaRPr lang="en-US"/>
          </a:p>
        </p:txBody>
      </p:sp>
      <p:sp>
        <p:nvSpPr>
          <p:cNvPr id="14" name="Text 11"/>
          <p:cNvSpPr/>
          <p:nvPr/>
        </p:nvSpPr>
        <p:spPr>
          <a:xfrm>
            <a:off x="1496187" y="2395728"/>
            <a:ext cx="768096" cy="768096"/>
          </a:xfrm>
          <a:prstGeom prst="rect">
            <a:avLst/>
          </a:prstGeom>
          <a:noFill/>
          <a:ln/>
        </p:spPr>
        <p:txBody>
          <a:bodyPr wrap="square" lIns="0" tIns="0" rIns="0" bIns="0" rtlCol="0" anchor="ctr"/>
          <a:lstStyle/>
          <a:p>
            <a:pPr marL="0" indent="0" algn="ctr">
              <a:buNone/>
            </a:pPr>
            <a:r>
              <a:rPr lang="en-US" sz="2200" b="1" dirty="0">
                <a:solidFill>
                  <a:srgbClr val="0F1F2B"/>
                </a:solidFill>
                <a:latin typeface="Georgia" pitchFamily="34" charset="0"/>
                <a:ea typeface="Georgia" pitchFamily="34" charset="-122"/>
                <a:cs typeface="Georgia" pitchFamily="34" charset="-120"/>
              </a:rPr>
              <a:t>1</a:t>
            </a:r>
            <a:endParaRPr lang="en-US" sz="2200" dirty="0"/>
          </a:p>
        </p:txBody>
      </p:sp>
      <p:sp>
        <p:nvSpPr>
          <p:cNvPr id="15" name="Shape 12"/>
          <p:cNvSpPr/>
          <p:nvPr/>
        </p:nvSpPr>
        <p:spPr>
          <a:xfrm>
            <a:off x="566928" y="3355848"/>
            <a:ext cx="2626614" cy="192024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16" name="Text 13"/>
          <p:cNvSpPr/>
          <p:nvPr/>
        </p:nvSpPr>
        <p:spPr>
          <a:xfrm>
            <a:off x="658368" y="3465576"/>
            <a:ext cx="2443734" cy="640080"/>
          </a:xfrm>
          <a:prstGeom prst="rect">
            <a:avLst/>
          </a:prstGeom>
          <a:noFill/>
          <a:ln/>
        </p:spPr>
        <p:txBody>
          <a:bodyPr wrap="square" lIns="0" tIns="0" rIns="0" bIns="0" rtlCol="0" anchor="t"/>
          <a:lstStyle/>
          <a:p>
            <a:pPr marL="0" indent="0" algn="ctr">
              <a:buNone/>
            </a:pPr>
            <a:r>
              <a:rPr lang="en-US" sz="1250" b="1" dirty="0">
                <a:solidFill>
                  <a:srgbClr val="17384A"/>
                </a:solidFill>
                <a:latin typeface="Georgia" pitchFamily="34" charset="0"/>
                <a:ea typeface="Georgia" pitchFamily="34" charset="-122"/>
                <a:cs typeface="Georgia" pitchFamily="34" charset="-120"/>
              </a:rPr>
              <a:t>Weeks 1–2</a:t>
            </a:r>
            <a:endParaRPr lang="en-US" sz="1250" dirty="0"/>
          </a:p>
          <a:p>
            <a:pPr marL="0" indent="0" algn="ctr">
              <a:buNone/>
            </a:pPr>
            <a:r>
              <a:rPr lang="en-US" sz="1250" b="1" dirty="0">
                <a:solidFill>
                  <a:srgbClr val="17384A"/>
                </a:solidFill>
                <a:latin typeface="Georgia" pitchFamily="34" charset="0"/>
                <a:ea typeface="Georgia" pitchFamily="34" charset="-122"/>
                <a:cs typeface="Georgia" pitchFamily="34" charset="-120"/>
              </a:rPr>
              <a:t>Baseline</a:t>
            </a:r>
            <a:endParaRPr lang="en-US" sz="1250" dirty="0"/>
          </a:p>
        </p:txBody>
      </p:sp>
      <p:sp>
        <p:nvSpPr>
          <p:cNvPr id="17" name="Text 14"/>
          <p:cNvSpPr/>
          <p:nvPr/>
        </p:nvSpPr>
        <p:spPr>
          <a:xfrm>
            <a:off x="676656" y="3959352"/>
            <a:ext cx="2407158" cy="1280160"/>
          </a:xfrm>
          <a:prstGeom prst="rect">
            <a:avLst/>
          </a:prstGeom>
          <a:noFill/>
          <a:ln/>
        </p:spPr>
        <p:txBody>
          <a:bodyPr wrap="square" lIns="0" tIns="0" rIns="0" bIns="0" rtlCol="0" anchor="t"/>
          <a:lstStyle/>
          <a:p>
            <a:pPr marL="0" indent="0" algn="ctr">
              <a:buNone/>
            </a:pPr>
            <a:r>
              <a:rPr lang="en-US" sz="980" dirty="0">
                <a:solidFill>
                  <a:srgbClr val="16232B"/>
                </a:solidFill>
                <a:latin typeface="Calibri" pitchFamily="34" charset="0"/>
                <a:ea typeface="Calibri" pitchFamily="34" charset="-122"/>
                <a:cs typeface="Calibri" pitchFamily="34" charset="-120"/>
              </a:rPr>
              <a:t>Read-only access to 24 months of orders, addresses and proof of delivery. Measure the pilot zone exactly as it runs today.</a:t>
            </a:r>
            <a:endParaRPr lang="en-US" sz="980" dirty="0"/>
          </a:p>
        </p:txBody>
      </p:sp>
      <p:sp>
        <p:nvSpPr>
          <p:cNvPr id="18" name="Shape 15"/>
          <p:cNvSpPr/>
          <p:nvPr/>
        </p:nvSpPr>
        <p:spPr>
          <a:xfrm>
            <a:off x="4305681" y="2395728"/>
            <a:ext cx="768096" cy="768096"/>
          </a:xfrm>
          <a:prstGeom prst="ellipse">
            <a:avLst/>
          </a:prstGeom>
          <a:solidFill>
            <a:srgbClr val="17384A"/>
          </a:solidFill>
          <a:ln w="31750">
            <a:solidFill>
              <a:srgbClr val="FFFFFF"/>
            </a:solidFill>
            <a:prstDash val="solid"/>
          </a:ln>
        </p:spPr>
        <p:txBody>
          <a:bodyPr/>
          <a:lstStyle/>
          <a:p>
            <a:endParaRPr lang="en-US"/>
          </a:p>
        </p:txBody>
      </p:sp>
      <p:sp>
        <p:nvSpPr>
          <p:cNvPr id="19" name="Text 16"/>
          <p:cNvSpPr/>
          <p:nvPr/>
        </p:nvSpPr>
        <p:spPr>
          <a:xfrm>
            <a:off x="4305681" y="2395728"/>
            <a:ext cx="768096" cy="768096"/>
          </a:xfrm>
          <a:prstGeom prst="rect">
            <a:avLst/>
          </a:prstGeom>
          <a:noFill/>
          <a:ln/>
        </p:spPr>
        <p:txBody>
          <a:bodyPr wrap="square" lIns="0" tIns="0" rIns="0" bIns="0"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20" name="Shape 17"/>
          <p:cNvSpPr/>
          <p:nvPr/>
        </p:nvSpPr>
        <p:spPr>
          <a:xfrm>
            <a:off x="3376422" y="3355848"/>
            <a:ext cx="2626614" cy="192024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21" name="Text 18"/>
          <p:cNvSpPr/>
          <p:nvPr/>
        </p:nvSpPr>
        <p:spPr>
          <a:xfrm>
            <a:off x="3467862" y="3465576"/>
            <a:ext cx="2443734" cy="640080"/>
          </a:xfrm>
          <a:prstGeom prst="rect">
            <a:avLst/>
          </a:prstGeom>
          <a:noFill/>
          <a:ln/>
        </p:spPr>
        <p:txBody>
          <a:bodyPr wrap="square" lIns="0" tIns="0" rIns="0" bIns="0" rtlCol="0" anchor="t"/>
          <a:lstStyle/>
          <a:p>
            <a:pPr marL="0" indent="0" algn="ctr">
              <a:buNone/>
            </a:pPr>
            <a:r>
              <a:rPr lang="en-US" sz="1250" b="1" dirty="0">
                <a:solidFill>
                  <a:srgbClr val="17384A"/>
                </a:solidFill>
                <a:latin typeface="Georgia" pitchFamily="34" charset="0"/>
                <a:ea typeface="Georgia" pitchFamily="34" charset="-122"/>
                <a:cs typeface="Georgia" pitchFamily="34" charset="-120"/>
              </a:rPr>
              <a:t>Weeks 3–4</a:t>
            </a:r>
            <a:endParaRPr lang="en-US" sz="1250" dirty="0"/>
          </a:p>
          <a:p>
            <a:pPr marL="0" indent="0" algn="ctr">
              <a:buNone/>
            </a:pPr>
            <a:r>
              <a:rPr lang="en-US" sz="1250" b="1" dirty="0">
                <a:solidFill>
                  <a:srgbClr val="17384A"/>
                </a:solidFill>
                <a:latin typeface="Georgia" pitchFamily="34" charset="0"/>
                <a:ea typeface="Georgia" pitchFamily="34" charset="-122"/>
                <a:cs typeface="Georgia" pitchFamily="34" charset="-120"/>
              </a:rPr>
              <a:t>Shadow</a:t>
            </a:r>
            <a:endParaRPr lang="en-US" sz="1250" dirty="0"/>
          </a:p>
        </p:txBody>
      </p:sp>
      <p:sp>
        <p:nvSpPr>
          <p:cNvPr id="22" name="Text 19"/>
          <p:cNvSpPr/>
          <p:nvPr/>
        </p:nvSpPr>
        <p:spPr>
          <a:xfrm>
            <a:off x="3486150" y="3959352"/>
            <a:ext cx="2407158" cy="1280160"/>
          </a:xfrm>
          <a:prstGeom prst="rect">
            <a:avLst/>
          </a:prstGeom>
          <a:noFill/>
          <a:ln/>
        </p:spPr>
        <p:txBody>
          <a:bodyPr wrap="square" lIns="0" tIns="0" rIns="0" bIns="0" rtlCol="0" anchor="t"/>
          <a:lstStyle/>
          <a:p>
            <a:pPr marL="0" indent="0" algn="ctr">
              <a:buNone/>
            </a:pPr>
            <a:r>
              <a:rPr lang="en-US" sz="980" dirty="0">
                <a:solidFill>
                  <a:srgbClr val="16232B"/>
                </a:solidFill>
                <a:latin typeface="Calibri" pitchFamily="34" charset="0"/>
                <a:ea typeface="Calibri" pitchFamily="34" charset="-122"/>
                <a:cs typeface="Calibri" pitchFamily="34" charset="-120"/>
              </a:rPr>
              <a:t>The system proposes routes and windows. Planners work exactly as they do now. We compare the two side by side, daily.</a:t>
            </a:r>
            <a:endParaRPr lang="en-US" sz="980" dirty="0"/>
          </a:p>
        </p:txBody>
      </p:sp>
      <p:sp>
        <p:nvSpPr>
          <p:cNvPr id="23" name="Shape 20"/>
          <p:cNvSpPr/>
          <p:nvPr/>
        </p:nvSpPr>
        <p:spPr>
          <a:xfrm>
            <a:off x="7115175" y="2395728"/>
            <a:ext cx="768096" cy="768096"/>
          </a:xfrm>
          <a:prstGeom prst="ellipse">
            <a:avLst/>
          </a:prstGeom>
          <a:solidFill>
            <a:srgbClr val="17384A"/>
          </a:solidFill>
          <a:ln w="31750">
            <a:solidFill>
              <a:srgbClr val="FFFFFF"/>
            </a:solidFill>
            <a:prstDash val="solid"/>
          </a:ln>
        </p:spPr>
        <p:txBody>
          <a:bodyPr/>
          <a:lstStyle/>
          <a:p>
            <a:endParaRPr lang="en-US"/>
          </a:p>
        </p:txBody>
      </p:sp>
      <p:sp>
        <p:nvSpPr>
          <p:cNvPr id="24" name="Text 21"/>
          <p:cNvSpPr/>
          <p:nvPr/>
        </p:nvSpPr>
        <p:spPr>
          <a:xfrm>
            <a:off x="7115175" y="2395728"/>
            <a:ext cx="768096" cy="768096"/>
          </a:xfrm>
          <a:prstGeom prst="rect">
            <a:avLst/>
          </a:prstGeom>
          <a:noFill/>
          <a:ln/>
        </p:spPr>
        <p:txBody>
          <a:bodyPr wrap="square" lIns="0" tIns="0" rIns="0" bIns="0"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25" name="Shape 22"/>
          <p:cNvSpPr/>
          <p:nvPr/>
        </p:nvSpPr>
        <p:spPr>
          <a:xfrm>
            <a:off x="6185916" y="3355848"/>
            <a:ext cx="2626614" cy="192024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26" name="Text 23"/>
          <p:cNvSpPr/>
          <p:nvPr/>
        </p:nvSpPr>
        <p:spPr>
          <a:xfrm>
            <a:off x="6277356" y="3465576"/>
            <a:ext cx="2443734" cy="640080"/>
          </a:xfrm>
          <a:prstGeom prst="rect">
            <a:avLst/>
          </a:prstGeom>
          <a:noFill/>
          <a:ln/>
        </p:spPr>
        <p:txBody>
          <a:bodyPr wrap="square" lIns="0" tIns="0" rIns="0" bIns="0" rtlCol="0" anchor="t"/>
          <a:lstStyle/>
          <a:p>
            <a:pPr marL="0" indent="0" algn="ctr">
              <a:buNone/>
            </a:pPr>
            <a:r>
              <a:rPr lang="en-US" sz="1250" b="1" dirty="0">
                <a:solidFill>
                  <a:srgbClr val="17384A"/>
                </a:solidFill>
                <a:latin typeface="Georgia" pitchFamily="34" charset="0"/>
                <a:ea typeface="Georgia" pitchFamily="34" charset="-122"/>
                <a:cs typeface="Georgia" pitchFamily="34" charset="-120"/>
              </a:rPr>
              <a:t>Weeks 5–7</a:t>
            </a:r>
            <a:endParaRPr lang="en-US" sz="1250" dirty="0"/>
          </a:p>
          <a:p>
            <a:pPr marL="0" indent="0" algn="ctr">
              <a:buNone/>
            </a:pPr>
            <a:r>
              <a:rPr lang="en-US" sz="1250" b="1" dirty="0">
                <a:solidFill>
                  <a:srgbClr val="17384A"/>
                </a:solidFill>
                <a:latin typeface="Georgia" pitchFamily="34" charset="0"/>
                <a:ea typeface="Georgia" pitchFamily="34" charset="-122"/>
                <a:cs typeface="Georgia" pitchFamily="34" charset="-120"/>
              </a:rPr>
              <a:t>Live in one zone</a:t>
            </a:r>
            <a:endParaRPr lang="en-US" sz="1250" dirty="0"/>
          </a:p>
        </p:txBody>
      </p:sp>
      <p:sp>
        <p:nvSpPr>
          <p:cNvPr id="27" name="Text 24"/>
          <p:cNvSpPr/>
          <p:nvPr/>
        </p:nvSpPr>
        <p:spPr>
          <a:xfrm>
            <a:off x="6295644" y="3959352"/>
            <a:ext cx="2407158" cy="1280160"/>
          </a:xfrm>
          <a:prstGeom prst="rect">
            <a:avLst/>
          </a:prstGeom>
          <a:noFill/>
          <a:ln/>
        </p:spPr>
        <p:txBody>
          <a:bodyPr wrap="square" lIns="0" tIns="0" rIns="0" bIns="0" rtlCol="0" anchor="t"/>
          <a:lstStyle/>
          <a:p>
            <a:pPr marL="0" indent="0" algn="ctr">
              <a:buNone/>
            </a:pPr>
            <a:r>
              <a:rPr lang="en-US" sz="980" dirty="0">
                <a:solidFill>
                  <a:srgbClr val="16232B"/>
                </a:solidFill>
                <a:latin typeface="Calibri" pitchFamily="34" charset="0"/>
                <a:ea typeface="Calibri" pitchFamily="34" charset="-122"/>
                <a:cs typeface="Calibri" pitchFamily="34" charset="-120"/>
              </a:rPr>
              <a:t>One Madrid metro zone runs on the proposed plan and published windows. The planner keeps the override throughout.</a:t>
            </a:r>
            <a:endParaRPr lang="en-US" sz="980" dirty="0"/>
          </a:p>
        </p:txBody>
      </p:sp>
      <p:sp>
        <p:nvSpPr>
          <p:cNvPr id="28" name="Shape 25"/>
          <p:cNvSpPr/>
          <p:nvPr/>
        </p:nvSpPr>
        <p:spPr>
          <a:xfrm>
            <a:off x="9924669" y="2395728"/>
            <a:ext cx="768096" cy="768096"/>
          </a:xfrm>
          <a:prstGeom prst="ellipse">
            <a:avLst/>
          </a:prstGeom>
          <a:solidFill>
            <a:srgbClr val="17384A"/>
          </a:solidFill>
          <a:ln w="31750">
            <a:solidFill>
              <a:srgbClr val="FFFFFF"/>
            </a:solidFill>
            <a:prstDash val="solid"/>
          </a:ln>
        </p:spPr>
        <p:txBody>
          <a:bodyPr/>
          <a:lstStyle/>
          <a:p>
            <a:endParaRPr lang="en-US"/>
          </a:p>
        </p:txBody>
      </p:sp>
      <p:sp>
        <p:nvSpPr>
          <p:cNvPr id="29" name="Text 26"/>
          <p:cNvSpPr/>
          <p:nvPr/>
        </p:nvSpPr>
        <p:spPr>
          <a:xfrm>
            <a:off x="9924669" y="2395728"/>
            <a:ext cx="768096" cy="768096"/>
          </a:xfrm>
          <a:prstGeom prst="rect">
            <a:avLst/>
          </a:prstGeom>
          <a:noFill/>
          <a:ln/>
        </p:spPr>
        <p:txBody>
          <a:bodyPr wrap="square" lIns="0" tIns="0" rIns="0" bIns="0"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30" name="Shape 27"/>
          <p:cNvSpPr/>
          <p:nvPr/>
        </p:nvSpPr>
        <p:spPr>
          <a:xfrm>
            <a:off x="8995410" y="3355848"/>
            <a:ext cx="2626614" cy="1920240"/>
          </a:xfrm>
          <a:prstGeom prst="rect">
            <a:avLst/>
          </a:prstGeom>
          <a:solidFill>
            <a:srgbClr val="FFFFFF"/>
          </a:solidFill>
          <a:ln w="12700">
            <a:solidFill>
              <a:srgbClr val="D6E2E8"/>
            </a:solidFill>
            <a:prstDash val="solid"/>
          </a:ln>
          <a:effectLst>
            <a:outerShdw blurRad="88900" dist="38100" dir="8100000" algn="bl" rotWithShape="0">
              <a:srgbClr val="1C2440">
                <a:alpha val="13000"/>
              </a:srgbClr>
            </a:outerShdw>
          </a:effectLst>
        </p:spPr>
        <p:txBody>
          <a:bodyPr/>
          <a:lstStyle/>
          <a:p>
            <a:endParaRPr lang="en-US"/>
          </a:p>
        </p:txBody>
      </p:sp>
      <p:sp>
        <p:nvSpPr>
          <p:cNvPr id="31" name="Text 28"/>
          <p:cNvSpPr/>
          <p:nvPr/>
        </p:nvSpPr>
        <p:spPr>
          <a:xfrm>
            <a:off x="9086850" y="3465576"/>
            <a:ext cx="2443734" cy="640080"/>
          </a:xfrm>
          <a:prstGeom prst="rect">
            <a:avLst/>
          </a:prstGeom>
          <a:noFill/>
          <a:ln/>
        </p:spPr>
        <p:txBody>
          <a:bodyPr wrap="square" lIns="0" tIns="0" rIns="0" bIns="0" rtlCol="0" anchor="t"/>
          <a:lstStyle/>
          <a:p>
            <a:pPr marL="0" indent="0" algn="ctr">
              <a:buNone/>
            </a:pPr>
            <a:r>
              <a:rPr lang="en-US" sz="1250" b="1" dirty="0">
                <a:solidFill>
                  <a:srgbClr val="17384A"/>
                </a:solidFill>
                <a:latin typeface="Georgia" pitchFamily="34" charset="0"/>
                <a:ea typeface="Georgia" pitchFamily="34" charset="-122"/>
                <a:cs typeface="Georgia" pitchFamily="34" charset="-120"/>
              </a:rPr>
              <a:t>Week 8</a:t>
            </a:r>
            <a:endParaRPr lang="en-US" sz="1250" dirty="0"/>
          </a:p>
          <a:p>
            <a:pPr marL="0" indent="0" algn="ctr">
              <a:buNone/>
            </a:pPr>
            <a:r>
              <a:rPr lang="en-US" sz="1250" b="1" dirty="0">
                <a:solidFill>
                  <a:srgbClr val="17384A"/>
                </a:solidFill>
                <a:latin typeface="Georgia" pitchFamily="34" charset="0"/>
                <a:ea typeface="Georgia" pitchFamily="34" charset="-122"/>
                <a:cs typeface="Georgia" pitchFamily="34" charset="-120"/>
              </a:rPr>
              <a:t>Decision</a:t>
            </a:r>
            <a:endParaRPr lang="en-US" sz="1250" dirty="0"/>
          </a:p>
        </p:txBody>
      </p:sp>
      <p:sp>
        <p:nvSpPr>
          <p:cNvPr id="32" name="Text 29"/>
          <p:cNvSpPr/>
          <p:nvPr/>
        </p:nvSpPr>
        <p:spPr>
          <a:xfrm>
            <a:off x="9105138" y="3959352"/>
            <a:ext cx="2407158" cy="1280160"/>
          </a:xfrm>
          <a:prstGeom prst="rect">
            <a:avLst/>
          </a:prstGeom>
          <a:noFill/>
          <a:ln/>
        </p:spPr>
        <p:txBody>
          <a:bodyPr wrap="square" lIns="0" tIns="0" rIns="0" bIns="0" rtlCol="0" anchor="t"/>
          <a:lstStyle/>
          <a:p>
            <a:pPr marL="0" indent="0" algn="ctr">
              <a:buNone/>
            </a:pPr>
            <a:r>
              <a:rPr lang="en-US" sz="980" dirty="0">
                <a:solidFill>
                  <a:srgbClr val="16232B"/>
                </a:solidFill>
                <a:latin typeface="Calibri" pitchFamily="34" charset="0"/>
                <a:ea typeface="Calibri" pitchFamily="34" charset="-122"/>
                <a:cs typeface="Calibri" pitchFamily="34" charset="-120"/>
              </a:rPr>
              <a:t>Measured result against the six metrics, the cost to extend, and an honest recommendation to stop, adjust or scale.</a:t>
            </a:r>
            <a:endParaRPr lang="en-US" sz="980" dirty="0"/>
          </a:p>
        </p:txBody>
      </p:sp>
      <p:sp>
        <p:nvSpPr>
          <p:cNvPr id="33" name="Shape 30"/>
          <p:cNvSpPr/>
          <p:nvPr/>
        </p:nvSpPr>
        <p:spPr>
          <a:xfrm>
            <a:off x="566928" y="5550408"/>
            <a:ext cx="11055096" cy="676656"/>
          </a:xfrm>
          <a:prstGeom prst="rect">
            <a:avLst/>
          </a:prstGeom>
          <a:solidFill>
            <a:srgbClr val="EAF2F5"/>
          </a:solidFill>
          <a:ln/>
        </p:spPr>
        <p:txBody>
          <a:bodyPr/>
          <a:lstStyle/>
          <a:p>
            <a:endParaRPr lang="en-US"/>
          </a:p>
        </p:txBody>
      </p:sp>
      <p:sp>
        <p:nvSpPr>
          <p:cNvPr id="34" name="Shape 31"/>
          <p:cNvSpPr/>
          <p:nvPr/>
        </p:nvSpPr>
        <p:spPr>
          <a:xfrm>
            <a:off x="566928" y="5550408"/>
            <a:ext cx="82296" cy="676656"/>
          </a:xfrm>
          <a:prstGeom prst="rect">
            <a:avLst/>
          </a:prstGeom>
          <a:solidFill>
            <a:srgbClr val="D97706"/>
          </a:solidFill>
          <a:ln/>
        </p:spPr>
        <p:txBody>
          <a:bodyPr/>
          <a:lstStyle/>
          <a:p>
            <a:endParaRPr lang="en-US"/>
          </a:p>
        </p:txBody>
      </p:sp>
      <p:sp>
        <p:nvSpPr>
          <p:cNvPr id="35" name="Text 32"/>
          <p:cNvSpPr/>
          <p:nvPr/>
        </p:nvSpPr>
        <p:spPr>
          <a:xfrm>
            <a:off x="822960" y="555040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ZONE CHOICE   </a:t>
            </a:r>
            <a:r>
              <a:rPr lang="en-US" sz="1200" dirty="0">
                <a:solidFill>
                  <a:srgbClr val="16232B"/>
                </a:solidFill>
                <a:latin typeface="Calibri" pitchFamily="34" charset="0"/>
                <a:ea typeface="Calibri" pitchFamily="34" charset="-122"/>
                <a:cs typeface="Calibri" pitchFamily="34" charset="-120"/>
              </a:rPr>
              <a:t>We want your worst residential zone, not your easiest. A result there is a result you can trust everywhere else.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17384A"/>
                </a:solidFill>
                <a:latin typeface="Georgia" pitchFamily="34" charset="0"/>
                <a:ea typeface="Georgia" pitchFamily="34" charset="-122"/>
                <a:cs typeface="Georgia" pitchFamily="34" charset="-120"/>
              </a:rPr>
              <a:t>What we are watching, and what we do about it</a:t>
            </a:r>
            <a:endParaRPr lang="en-US" sz="3000" dirty="0"/>
          </a:p>
        </p:txBody>
      </p:sp>
      <p:sp>
        <p:nvSpPr>
          <p:cNvPr id="6" name="Shape 3"/>
          <p:cNvSpPr/>
          <p:nvPr/>
        </p:nvSpPr>
        <p:spPr>
          <a:xfrm>
            <a:off x="566928" y="1481328"/>
            <a:ext cx="11055096" cy="676656"/>
          </a:xfrm>
          <a:prstGeom prst="rect">
            <a:avLst/>
          </a:prstGeom>
          <a:solidFill>
            <a:srgbClr val="EAF2F5"/>
          </a:solidFill>
          <a:ln/>
        </p:spPr>
        <p:txBody>
          <a:bodyPr/>
          <a:lstStyle/>
          <a:p>
            <a:endParaRPr lang="en-US"/>
          </a:p>
        </p:txBody>
      </p:sp>
      <p:sp>
        <p:nvSpPr>
          <p:cNvPr id="7" name="Shape 4"/>
          <p:cNvSpPr/>
          <p:nvPr/>
        </p:nvSpPr>
        <p:spPr>
          <a:xfrm>
            <a:off x="566928" y="1481328"/>
            <a:ext cx="82296" cy="676656"/>
          </a:xfrm>
          <a:prstGeom prst="rect">
            <a:avLst/>
          </a:prstGeom>
          <a:solidFill>
            <a:srgbClr val="D97706"/>
          </a:solidFill>
          <a:ln/>
        </p:spPr>
        <p:txBody>
          <a:bodyPr/>
          <a:lstStyle/>
          <a:p>
            <a:endParaRPr lang="en-US"/>
          </a:p>
        </p:txBody>
      </p:sp>
      <p:sp>
        <p:nvSpPr>
          <p:cNvPr id="8" name="Text 5"/>
          <p:cNvSpPr/>
          <p:nvPr/>
        </p:nvSpPr>
        <p:spPr>
          <a:xfrm>
            <a:off x="822960" y="148132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TAKEAWAY   </a:t>
            </a:r>
            <a:r>
              <a:rPr lang="en-US" sz="1300" dirty="0">
                <a:solidFill>
                  <a:srgbClr val="16232B"/>
                </a:solidFill>
                <a:latin typeface="Calibri" pitchFamily="34" charset="0"/>
                <a:ea typeface="Calibri" pitchFamily="34" charset="-122"/>
                <a:cs typeface="Calibri" pitchFamily="34" charset="-120"/>
              </a:rPr>
              <a:t>The five ways this fails are known. Each has a control already in the plan.</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txBody>
          <a:bodyPr/>
          <a:lstStyle/>
          <a:p>
            <a:endParaRPr lang="en-US"/>
          </a:p>
        </p:txBody>
      </p:sp>
      <p:sp>
        <p:nvSpPr>
          <p:cNvPr id="10" name="Text 7"/>
          <p:cNvSpPr/>
          <p:nvPr/>
        </p:nvSpPr>
        <p:spPr>
          <a:xfrm>
            <a:off x="566928" y="6473952"/>
            <a:ext cx="7315200" cy="274320"/>
          </a:xfrm>
          <a:prstGeom prst="rect">
            <a:avLst/>
          </a:prstGeom>
          <a:noFill/>
          <a:ln/>
        </p:spPr>
        <p:txBody>
          <a:bodyPr wrap="square" lIns="0" tIns="0" rIns="0" bIns="0" rtlCol="0" anchor="ctr"/>
          <a:lstStyle/>
          <a:p>
            <a:pPr marL="0" indent="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marL="0" indent="0" algn="r">
              <a:buNone/>
            </a:pPr>
            <a:r>
              <a:rPr lang="en-US" sz="850" dirty="0">
                <a:solidFill>
                  <a:srgbClr val="6B7C86"/>
                </a:solidFill>
                <a:latin typeface="Calibri" pitchFamily="34" charset="0"/>
                <a:ea typeface="Calibri" pitchFamily="34" charset="-122"/>
                <a:cs typeface="Calibri" pitchFamily="34" charset="-120"/>
              </a:rPr>
              <a:t>13</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2020824"/>
        </p:xfrm>
        <a:graphic>
          <a:graphicData uri="http://schemas.openxmlformats.org/drawingml/2006/table">
            <a:tbl>
              <a:tblPr/>
              <a:tblGrid>
                <a:gridCol w="3749040">
                  <a:extLst>
                    <a:ext uri="{9D8B030D-6E8A-4147-A177-3AD203B41FA5}">
                      <a16:colId xmlns:a16="http://schemas.microsoft.com/office/drawing/2014/main" val="20000"/>
                    </a:ext>
                  </a:extLst>
                </a:gridCol>
                <a:gridCol w="7306056">
                  <a:extLst>
                    <a:ext uri="{9D8B030D-6E8A-4147-A177-3AD203B41FA5}">
                      <a16:colId xmlns:a16="http://schemas.microsoft.com/office/drawing/2014/main" val="20001"/>
                    </a:ext>
                  </a:extLst>
                </a:gridCol>
              </a:tblGrid>
              <a:tr h="329184">
                <a:tc>
                  <a:txBody>
                    <a:bodyPr/>
                    <a:lstStyle/>
                    <a:p>
                      <a:pPr marL="0" indent="0">
                        <a:buNone/>
                      </a:pPr>
                      <a:r>
                        <a:rPr lang="en-US" sz="1100" b="1" kern="0" spc="100" dirty="0">
                          <a:solidFill>
                            <a:srgbClr val="FFFFFF"/>
                          </a:solidFill>
                        </a:rPr>
                        <a:t>HOW THIS COULD FAIL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marL="0" indent="0">
                        <a:buNone/>
                      </a:pPr>
                      <a:r>
                        <a:rPr lang="en-US" sz="1100" b="1" kern="0" spc="100" dirty="0">
                          <a:solidFill>
                            <a:srgbClr val="0F1F2B"/>
                          </a:solidFill>
                        </a:rPr>
                        <a:t>THE CONTROL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extLst>
                  <a:ext uri="{0D108BD9-81ED-4DB2-BD59-A6C34878D82A}">
                    <a16:rowId xmlns:a16="http://schemas.microsoft.com/office/drawing/2014/main" val="10000"/>
                  </a:ext>
                </a:extLst>
              </a:tr>
              <a:tr h="338328">
                <a:tc>
                  <a:txBody>
                    <a:bodyPr/>
                    <a:lstStyle/>
                    <a:p>
                      <a:pPr marL="0" indent="0">
                        <a:buNone/>
                      </a:pPr>
                      <a:r>
                        <a:rPr lang="en-US" sz="1050" b="1" dirty="0">
                          <a:solidFill>
                            <a:srgbClr val="17384A"/>
                          </a:solidFill>
                        </a:rPr>
                        <a:t>Address and timestamp history is dirtier than expected</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Weeks 1–2 assess the data before anything is built. If it cannot support a window, we narrow to dispatch and say so.</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8328">
                <a:tc>
                  <a:txBody>
                    <a:bodyPr/>
                    <a:lstStyle/>
                    <a:p>
                      <a:pPr marL="0" indent="0">
                        <a:buNone/>
                      </a:pPr>
                      <a:r>
                        <a:rPr lang="en-US" sz="1050" b="1" dirty="0">
                          <a:solidFill>
                            <a:srgbClr val="17384A"/>
                          </a:solidFill>
                        </a:rPr>
                        <a:t>Drivers read this as monitoring</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marL="0" indent="0">
                        <a:buNone/>
                      </a:pPr>
                      <a:r>
                        <a:rPr lang="en-US" sz="1050" dirty="0">
                          <a:solidFill>
                            <a:srgbClr val="16232B"/>
                          </a:solidFill>
                        </a:rPr>
                        <a:t>Five events, no continuous tracking, no scoring. Drivers see the same screen the office sees.</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extLst>
                  <a:ext uri="{0D108BD9-81ED-4DB2-BD59-A6C34878D82A}">
                    <a16:rowId xmlns:a16="http://schemas.microsoft.com/office/drawing/2014/main" val="10002"/>
                  </a:ext>
                </a:extLst>
              </a:tr>
              <a:tr h="338328">
                <a:tc>
                  <a:txBody>
                    <a:bodyPr/>
                    <a:lstStyle/>
                    <a:p>
                      <a:pPr marL="0" indent="0">
                        <a:buNone/>
                      </a:pPr>
                      <a:r>
                        <a:rPr lang="en-US" sz="1050" b="1" dirty="0">
                          <a:solidFill>
                            <a:srgbClr val="17384A"/>
                          </a:solidFill>
                        </a:rPr>
                        <a:t>The legacy ERP will not integrate cleanly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We read the scheduled exports your team already produces. No write-back to the ERP during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8328">
                <a:tc>
                  <a:txBody>
                    <a:bodyPr/>
                    <a:lstStyle/>
                    <a:p>
                      <a:pPr marL="0" indent="0">
                        <a:buNone/>
                      </a:pPr>
                      <a:r>
                        <a:rPr lang="en-US" sz="1050" b="1" dirty="0">
                          <a:solidFill>
                            <a:srgbClr val="17384A"/>
                          </a:solidFill>
                        </a:rPr>
                        <a:t>Peak season collides with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marL="0" indent="0">
                        <a:buNone/>
                      </a:pPr>
                      <a:r>
                        <a:rPr lang="en-US" sz="1050" dirty="0">
                          <a:solidFill>
                            <a:srgbClr val="16232B"/>
                          </a:solidFill>
                        </a:rPr>
                        <a:t>The eight weeks sit clear of Black Friday and Christmas. If the start slips, it slips to January.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extLst>
                  <a:ext uri="{0D108BD9-81ED-4DB2-BD59-A6C34878D82A}">
                    <a16:rowId xmlns:a16="http://schemas.microsoft.com/office/drawing/2014/main" val="10004"/>
                  </a:ext>
                </a:extLst>
              </a:tr>
              <a:tr h="338328">
                <a:tc>
                  <a:txBody>
                    <a:bodyPr/>
                    <a:lstStyle/>
                    <a:p>
                      <a:pPr marL="0" indent="0">
                        <a:buNone/>
                      </a:pPr>
                      <a:r>
                        <a:rPr lang="en-US" sz="1050" b="1" dirty="0">
                          <a:solidFill>
                            <a:srgbClr val="17384A"/>
                          </a:solidFill>
                        </a:rPr>
                        <a:t>It works in the pilot zone but nowhere else</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marL="0" indent="0">
                        <a:buNone/>
                      </a:pPr>
                      <a:r>
                        <a:rPr lang="en-US" sz="1050" dirty="0">
                          <a:solidFill>
                            <a:srgbClr val="16232B"/>
                          </a:solidFill>
                        </a:rPr>
                        <a:t>The pilot zone is chosen for being your hardest. A result there generalises; a result in an easy zone would not.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3" name="Shape 9"/>
          <p:cNvSpPr/>
          <p:nvPr/>
        </p:nvSpPr>
        <p:spPr>
          <a:xfrm>
            <a:off x="566928" y="4727448"/>
            <a:ext cx="11055096" cy="676656"/>
          </a:xfrm>
          <a:prstGeom prst="rect">
            <a:avLst/>
          </a:prstGeom>
          <a:solidFill>
            <a:srgbClr val="EAF2F5"/>
          </a:solidFill>
          <a:ln/>
        </p:spPr>
        <p:txBody>
          <a:bodyPr/>
          <a:lstStyle/>
          <a:p>
            <a:endParaRPr lang="en-US"/>
          </a:p>
        </p:txBody>
      </p:sp>
      <p:sp>
        <p:nvSpPr>
          <p:cNvPr id="14" name="Shape 10"/>
          <p:cNvSpPr/>
          <p:nvPr/>
        </p:nvSpPr>
        <p:spPr>
          <a:xfrm>
            <a:off x="566928" y="4727448"/>
            <a:ext cx="82296" cy="676656"/>
          </a:xfrm>
          <a:prstGeom prst="rect">
            <a:avLst/>
          </a:prstGeom>
          <a:solidFill>
            <a:srgbClr val="D97706"/>
          </a:solidFill>
          <a:ln/>
        </p:spPr>
        <p:txBody>
          <a:bodyPr/>
          <a:lstStyle/>
          <a:p>
            <a:endParaRPr lang="en-US"/>
          </a:p>
        </p:txBody>
      </p:sp>
      <p:sp>
        <p:nvSpPr>
          <p:cNvPr id="15" name="Text 11"/>
          <p:cNvSpPr/>
          <p:nvPr/>
        </p:nvSpPr>
        <p:spPr>
          <a:xfrm>
            <a:off x="822960" y="4727448"/>
            <a:ext cx="10597896" cy="676656"/>
          </a:xfrm>
          <a:prstGeom prst="rect">
            <a:avLst/>
          </a:prstGeom>
          <a:noFill/>
          <a:ln/>
        </p:spPr>
        <p:txBody>
          <a:bodyPr wrap="square" lIns="0" tIns="0" rIns="0" bIns="0" rtlCol="0" anchor="ctr"/>
          <a:lstStyle/>
          <a:p>
            <a:pPr marL="0" indent="0">
              <a:buNone/>
            </a:pPr>
            <a:r>
              <a:rPr lang="en-US" sz="1050" b="1" kern="0" spc="100" dirty="0">
                <a:solidFill>
                  <a:srgbClr val="D97706"/>
                </a:solidFill>
                <a:latin typeface="Calibri" pitchFamily="34" charset="0"/>
                <a:ea typeface="Calibri" pitchFamily="34" charset="-122"/>
                <a:cs typeface="Calibri" pitchFamily="34" charset="-120"/>
              </a:rPr>
              <a:t>TRAINING   </a:t>
            </a:r>
            <a:r>
              <a:rPr lang="en-US" sz="1200" dirty="0">
                <a:solidFill>
                  <a:srgbClr val="16232B"/>
                </a:solidFill>
                <a:latin typeface="Calibri" pitchFamily="34" charset="0"/>
                <a:ea typeface="Calibri" pitchFamily="34" charset="-122"/>
                <a:cs typeface="Calibri" pitchFamily="34" charset="-120"/>
              </a:rPr>
              <a:t>You flagged uneven comfort with new systems. Driver-side change is five buttons on a screen they already carry — deliberately small.</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F2B"/>
        </a:solidFill>
        <a:effectLst/>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marL="0" indent="0">
              <a:buNone/>
            </a:pPr>
            <a:r>
              <a:rPr lang="en-US" sz="1050" b="1" kern="0" spc="200" dirty="0">
                <a:solidFill>
                  <a:srgbClr val="D9770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What we need from you to start</a:t>
            </a:r>
            <a:endParaRPr lang="en-US" sz="3000" dirty="0"/>
          </a:p>
        </p:txBody>
      </p:sp>
      <p:sp>
        <p:nvSpPr>
          <p:cNvPr id="6" name="Text 3"/>
          <p:cNvSpPr/>
          <p:nvPr/>
        </p:nvSpPr>
        <p:spPr>
          <a:xfrm>
            <a:off x="566928" y="1691640"/>
            <a:ext cx="11055096" cy="457200"/>
          </a:xfrm>
          <a:prstGeom prst="rect">
            <a:avLst/>
          </a:prstGeom>
          <a:noFill/>
          <a:ln/>
        </p:spPr>
        <p:txBody>
          <a:bodyPr wrap="square" lIns="0" tIns="0" rIns="0" bIns="0" rtlCol="0" anchor="ctr"/>
          <a:lstStyle/>
          <a:p>
            <a:pPr marL="0" indent="0">
              <a:buNone/>
            </a:pPr>
            <a:r>
              <a:rPr lang="en-US" sz="2200" i="1" dirty="0">
                <a:solidFill>
                  <a:srgbClr val="CFE0E7"/>
                </a:solidFill>
                <a:latin typeface="Georgia" pitchFamily="34" charset="0"/>
                <a:ea typeface="Georgia" pitchFamily="34" charset="-122"/>
                <a:cs typeface="Georgia" pitchFamily="34" charset="-120"/>
              </a:rPr>
              <a:t>Three decisions, none of them technical.</a:t>
            </a:r>
            <a:endParaRPr lang="en-US" sz="2200" dirty="0"/>
          </a:p>
        </p:txBody>
      </p:sp>
      <p:sp>
        <p:nvSpPr>
          <p:cNvPr id="7" name="Shape 4"/>
          <p:cNvSpPr/>
          <p:nvPr/>
        </p:nvSpPr>
        <p:spPr>
          <a:xfrm>
            <a:off x="566928" y="2350008"/>
            <a:ext cx="11055096" cy="713232"/>
          </a:xfrm>
          <a:prstGeom prst="rect">
            <a:avLst/>
          </a:prstGeom>
          <a:solidFill>
            <a:srgbClr val="17384A"/>
          </a:solidFill>
          <a:ln/>
        </p:spPr>
        <p:txBody>
          <a:bodyPr/>
          <a:lstStyle/>
          <a:p>
            <a:endParaRPr lang="en-US"/>
          </a:p>
        </p:txBody>
      </p:sp>
      <p:sp>
        <p:nvSpPr>
          <p:cNvPr id="8" name="Shape 5"/>
          <p:cNvSpPr/>
          <p:nvPr/>
        </p:nvSpPr>
        <p:spPr>
          <a:xfrm>
            <a:off x="566928" y="2350008"/>
            <a:ext cx="82296" cy="713232"/>
          </a:xfrm>
          <a:prstGeom prst="rect">
            <a:avLst/>
          </a:prstGeom>
          <a:solidFill>
            <a:srgbClr val="D97706"/>
          </a:solidFill>
          <a:ln/>
        </p:spPr>
        <p:txBody>
          <a:bodyPr/>
          <a:lstStyle/>
          <a:p>
            <a:endParaRPr lang="en-US"/>
          </a:p>
        </p:txBody>
      </p:sp>
      <p:sp>
        <p:nvSpPr>
          <p:cNvPr id="9" name="Text 6"/>
          <p:cNvSpPr/>
          <p:nvPr/>
        </p:nvSpPr>
        <p:spPr>
          <a:xfrm>
            <a:off x="822960" y="2350008"/>
            <a:ext cx="10597896" cy="713232"/>
          </a:xfrm>
          <a:prstGeom prst="rect">
            <a:avLst/>
          </a:prstGeom>
          <a:noFill/>
          <a:ln/>
        </p:spPr>
        <p:txBody>
          <a:bodyPr wrap="square" lIns="0" tIns="0" rIns="0" bIns="0" rtlCol="0" anchor="ctr"/>
          <a:lstStyle/>
          <a:p>
            <a:pPr marL="0" indent="0">
              <a:buNone/>
            </a:pPr>
            <a:r>
              <a:rPr lang="en-US" sz="1250" b="1" dirty="0">
                <a:solidFill>
                  <a:srgbClr val="F5C77E"/>
                </a:solidFill>
                <a:latin typeface="Calibri" pitchFamily="34" charset="0"/>
                <a:ea typeface="Calibri" pitchFamily="34" charset="-122"/>
                <a:cs typeface="Calibri" pitchFamily="34" charset="-120"/>
              </a:rPr>
              <a:t>1.  Name the pilot zone.   </a:t>
            </a:r>
            <a:r>
              <a:rPr lang="en-US" sz="1250" dirty="0">
                <a:solidFill>
                  <a:srgbClr val="FFFFFF"/>
                </a:solidFill>
                <a:latin typeface="Calibri" pitchFamily="34" charset="0"/>
                <a:ea typeface="Calibri" pitchFamily="34" charset="-122"/>
                <a:cs typeface="Calibri" pitchFamily="34" charset="-120"/>
              </a:rPr>
              <a:t>We recommend the residential zone with the worst first-attempt rate.</a:t>
            </a:r>
            <a:endParaRPr lang="en-US" sz="1250" dirty="0"/>
          </a:p>
        </p:txBody>
      </p:sp>
      <p:sp>
        <p:nvSpPr>
          <p:cNvPr id="10" name="Shape 7"/>
          <p:cNvSpPr/>
          <p:nvPr/>
        </p:nvSpPr>
        <p:spPr>
          <a:xfrm>
            <a:off x="566928" y="3172968"/>
            <a:ext cx="11055096" cy="713232"/>
          </a:xfrm>
          <a:prstGeom prst="rect">
            <a:avLst/>
          </a:prstGeom>
          <a:solidFill>
            <a:srgbClr val="17384A"/>
          </a:solidFill>
          <a:ln/>
        </p:spPr>
        <p:txBody>
          <a:bodyPr/>
          <a:lstStyle/>
          <a:p>
            <a:endParaRPr lang="en-US"/>
          </a:p>
        </p:txBody>
      </p:sp>
      <p:sp>
        <p:nvSpPr>
          <p:cNvPr id="11" name="Shape 8"/>
          <p:cNvSpPr/>
          <p:nvPr/>
        </p:nvSpPr>
        <p:spPr>
          <a:xfrm>
            <a:off x="566928" y="3172968"/>
            <a:ext cx="82296" cy="713232"/>
          </a:xfrm>
          <a:prstGeom prst="rect">
            <a:avLst/>
          </a:prstGeom>
          <a:solidFill>
            <a:srgbClr val="D97706"/>
          </a:solidFill>
          <a:ln/>
        </p:spPr>
        <p:txBody>
          <a:bodyPr/>
          <a:lstStyle/>
          <a:p>
            <a:endParaRPr lang="en-US"/>
          </a:p>
        </p:txBody>
      </p:sp>
      <p:sp>
        <p:nvSpPr>
          <p:cNvPr id="12" name="Text 9"/>
          <p:cNvSpPr/>
          <p:nvPr/>
        </p:nvSpPr>
        <p:spPr>
          <a:xfrm>
            <a:off x="822960" y="3172968"/>
            <a:ext cx="10597896" cy="713232"/>
          </a:xfrm>
          <a:prstGeom prst="rect">
            <a:avLst/>
          </a:prstGeom>
          <a:noFill/>
          <a:ln/>
        </p:spPr>
        <p:txBody>
          <a:bodyPr wrap="square" lIns="0" tIns="0" rIns="0" bIns="0" rtlCol="0" anchor="ctr"/>
          <a:lstStyle/>
          <a:p>
            <a:pPr marL="0" indent="0">
              <a:buNone/>
            </a:pPr>
            <a:r>
              <a:rPr lang="en-US" sz="1250" b="1" dirty="0">
                <a:solidFill>
                  <a:srgbClr val="F5C77E"/>
                </a:solidFill>
                <a:latin typeface="Calibri" pitchFamily="34" charset="0"/>
                <a:ea typeface="Calibri" pitchFamily="34" charset="-122"/>
                <a:cs typeface="Calibri" pitchFamily="34" charset="-120"/>
              </a:rPr>
              <a:t>2.  Nominate one traffic planner as the owner.   </a:t>
            </a:r>
            <a:r>
              <a:rPr lang="en-US" sz="1250" dirty="0">
                <a:solidFill>
                  <a:srgbClr val="FFFFFF"/>
                </a:solidFill>
                <a:latin typeface="Calibri" pitchFamily="34" charset="0"/>
                <a:ea typeface="Calibri" pitchFamily="34" charset="-122"/>
                <a:cs typeface="Calibri" pitchFamily="34" charset="-120"/>
              </a:rPr>
              <a:t>Two hours a week, for eight weeks.</a:t>
            </a:r>
            <a:endParaRPr lang="en-US" sz="1250" dirty="0"/>
          </a:p>
        </p:txBody>
      </p:sp>
      <p:sp>
        <p:nvSpPr>
          <p:cNvPr id="13" name="Shape 10"/>
          <p:cNvSpPr/>
          <p:nvPr/>
        </p:nvSpPr>
        <p:spPr>
          <a:xfrm>
            <a:off x="566928" y="3995928"/>
            <a:ext cx="11055096" cy="713232"/>
          </a:xfrm>
          <a:prstGeom prst="rect">
            <a:avLst/>
          </a:prstGeom>
          <a:solidFill>
            <a:srgbClr val="17384A"/>
          </a:solidFill>
          <a:ln/>
        </p:spPr>
        <p:txBody>
          <a:bodyPr/>
          <a:lstStyle/>
          <a:p>
            <a:endParaRPr lang="en-US"/>
          </a:p>
        </p:txBody>
      </p:sp>
      <p:sp>
        <p:nvSpPr>
          <p:cNvPr id="14" name="Shape 11"/>
          <p:cNvSpPr/>
          <p:nvPr/>
        </p:nvSpPr>
        <p:spPr>
          <a:xfrm>
            <a:off x="566928" y="3995928"/>
            <a:ext cx="82296" cy="713232"/>
          </a:xfrm>
          <a:prstGeom prst="rect">
            <a:avLst/>
          </a:prstGeom>
          <a:solidFill>
            <a:srgbClr val="D97706"/>
          </a:solidFill>
          <a:ln/>
        </p:spPr>
        <p:txBody>
          <a:bodyPr/>
          <a:lstStyle/>
          <a:p>
            <a:endParaRPr lang="en-US"/>
          </a:p>
        </p:txBody>
      </p:sp>
      <p:sp>
        <p:nvSpPr>
          <p:cNvPr id="15" name="Text 12"/>
          <p:cNvSpPr/>
          <p:nvPr/>
        </p:nvSpPr>
        <p:spPr>
          <a:xfrm>
            <a:off x="822960" y="3995928"/>
            <a:ext cx="10597896" cy="713232"/>
          </a:xfrm>
          <a:prstGeom prst="rect">
            <a:avLst/>
          </a:prstGeom>
          <a:noFill/>
          <a:ln/>
        </p:spPr>
        <p:txBody>
          <a:bodyPr wrap="square" lIns="0" tIns="0" rIns="0" bIns="0" rtlCol="0" anchor="ctr"/>
          <a:lstStyle/>
          <a:p>
            <a:pPr marL="0" indent="0">
              <a:buNone/>
            </a:pPr>
            <a:r>
              <a:rPr lang="en-US" sz="1250" b="1" dirty="0">
                <a:solidFill>
                  <a:srgbClr val="F5C77E"/>
                </a:solidFill>
                <a:latin typeface="Calibri" pitchFamily="34" charset="0"/>
                <a:ea typeface="Calibri" pitchFamily="34" charset="-122"/>
                <a:cs typeface="Calibri" pitchFamily="34" charset="-120"/>
              </a:rPr>
              <a:t>3.  Approve read-only access.   </a:t>
            </a:r>
            <a:r>
              <a:rPr lang="en-US" sz="1250" dirty="0">
                <a:solidFill>
                  <a:srgbClr val="FFFFFF"/>
                </a:solidFill>
                <a:latin typeface="Calibri" pitchFamily="34" charset="0"/>
                <a:ea typeface="Calibri" pitchFamily="34" charset="-122"/>
                <a:cs typeface="Calibri" pitchFamily="34" charset="-120"/>
              </a:rPr>
              <a:t>24 months of orders, addresses and proof of delivery. No production write access at any point.</a:t>
            </a:r>
            <a:endParaRPr lang="en-US" sz="1250" dirty="0"/>
          </a:p>
        </p:txBody>
      </p:sp>
      <p:sp>
        <p:nvSpPr>
          <p:cNvPr id="16" name="Shape 13"/>
          <p:cNvSpPr/>
          <p:nvPr/>
        </p:nvSpPr>
        <p:spPr>
          <a:xfrm>
            <a:off x="566928" y="4910328"/>
            <a:ext cx="11055096" cy="786384"/>
          </a:xfrm>
          <a:prstGeom prst="rect">
            <a:avLst/>
          </a:prstGeom>
          <a:solidFill>
            <a:srgbClr val="EAF2F5"/>
          </a:solidFill>
          <a:ln/>
        </p:spPr>
        <p:txBody>
          <a:bodyPr/>
          <a:lstStyle/>
          <a:p>
            <a:endParaRPr lang="en-US"/>
          </a:p>
        </p:txBody>
      </p:sp>
      <p:sp>
        <p:nvSpPr>
          <p:cNvPr id="17" name="Shape 14"/>
          <p:cNvSpPr/>
          <p:nvPr/>
        </p:nvSpPr>
        <p:spPr>
          <a:xfrm>
            <a:off x="566928" y="4910328"/>
            <a:ext cx="82296" cy="786384"/>
          </a:xfrm>
          <a:prstGeom prst="rect">
            <a:avLst/>
          </a:prstGeom>
          <a:solidFill>
            <a:srgbClr val="D97706"/>
          </a:solidFill>
          <a:ln/>
        </p:spPr>
        <p:txBody>
          <a:bodyPr/>
          <a:lstStyle/>
          <a:p>
            <a:endParaRPr lang="en-US"/>
          </a:p>
        </p:txBody>
      </p:sp>
      <p:sp>
        <p:nvSpPr>
          <p:cNvPr id="18" name="Text 15"/>
          <p:cNvSpPr/>
          <p:nvPr/>
        </p:nvSpPr>
        <p:spPr>
          <a:xfrm>
            <a:off x="822960" y="4910328"/>
            <a:ext cx="10597896" cy="786384"/>
          </a:xfrm>
          <a:prstGeom prst="rect">
            <a:avLst/>
          </a:prstGeom>
          <a:noFill/>
          <a:ln/>
        </p:spPr>
        <p:txBody>
          <a:bodyPr wrap="square" lIns="0" tIns="0" rIns="0" bIns="0" rtlCol="0" anchor="ctr"/>
          <a:lstStyle/>
          <a:p>
            <a:pPr marL="0" indent="0">
              <a:buNone/>
            </a:pPr>
            <a:r>
              <a:rPr lang="en-US" sz="1100" b="1" kern="0" spc="100" dirty="0">
                <a:solidFill>
                  <a:srgbClr val="D97706"/>
                </a:solidFill>
                <a:latin typeface="Calibri" pitchFamily="34" charset="0"/>
                <a:ea typeface="Calibri" pitchFamily="34" charset="-122"/>
                <a:cs typeface="Calibri" pitchFamily="34" charset="-120"/>
              </a:rPr>
              <a:t>DECISION NEEDED BY   </a:t>
            </a:r>
            <a:r>
              <a:rPr lang="en-US" sz="1250" dirty="0">
                <a:solidFill>
                  <a:srgbClr val="16232B"/>
                </a:solidFill>
                <a:latin typeface="Calibri" pitchFamily="34" charset="0"/>
                <a:ea typeface="Calibri" pitchFamily="34" charset="-122"/>
                <a:cs typeface="Calibri" pitchFamily="34" charset="-120"/>
              </a:rPr>
              <a:t>the end of next week, so the eight weeks finish clear of peak season. If the answer is no, the baseline measurement in Weeks 1–2 is still yours to keep.</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296</TotalTime>
  <Words>5539</Words>
  <Application>Microsoft Macintosh PowerPoint</Application>
  <PresentationFormat>Widescreen</PresentationFormat>
  <Paragraphs>498</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 of the spreadsheet, back on the map — IberiaNex Logistics</dc:title>
  <dc:subject>PptxGenJS Presentation</dc:subject>
  <dc:creator>Ugo Ahukannah</dc:creator>
  <cp:lastModifiedBy>Nnanyelugo Ahukannah</cp:lastModifiedBy>
  <cp:revision>5</cp:revision>
  <dcterms:created xsi:type="dcterms:W3CDTF">2026-08-27T08:24:54Z</dcterms:created>
  <dcterms:modified xsi:type="dcterms:W3CDTF">2026-08-27T13:24:15Z</dcterms:modified>
</cp:coreProperties>
</file>